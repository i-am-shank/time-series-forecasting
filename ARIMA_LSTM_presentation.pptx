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12"/>
  </p:notesMasterIdLst>
  <p:sldIdLst>
    <p:sldId id="285" r:id="rId2"/>
    <p:sldId id="287" r:id="rId3"/>
    <p:sldId id="288" r:id="rId4"/>
    <p:sldId id="262" r:id="rId5"/>
    <p:sldId id="286" r:id="rId6"/>
    <p:sldId id="263" r:id="rId7"/>
    <p:sldId id="289" r:id="rId8"/>
    <p:sldId id="290" r:id="rId9"/>
    <p:sldId id="291" r:id="rId10"/>
    <p:sldId id="292" r:id="rId11"/>
  </p:sldIdLst>
  <p:sldSz cx="9144000" cy="5143500" type="screen16x9"/>
  <p:notesSz cx="6858000" cy="9144000"/>
  <p:embeddedFontLst>
    <p:embeddedFont>
      <p:font typeface="Lato" panose="020B0604020202020204" charset="0"/>
      <p:regular r:id="rId13"/>
      <p:bold r:id="rId14"/>
      <p:italic r:id="rId15"/>
      <p:boldItalic r:id="rId16"/>
    </p:embeddedFont>
    <p:embeddedFont>
      <p:font typeface="Raleway" panose="020B0604020202020204" charset="0"/>
      <p:regular r:id="rId17"/>
      <p:bold r:id="rId18"/>
      <p:italic r:id="rId19"/>
      <p:boldItalic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5F72"/>
    <a:srgbClr val="5B768F"/>
    <a:srgbClr val="4E657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AA3B20-678A-4C7C-9798-64512E79D95C}">
  <a:tblStyle styleId="{7AAA3B20-678A-4C7C-9798-64512E79D95C}"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4660"/>
  </p:normalViewPr>
  <p:slideViewPr>
    <p:cSldViewPr snapToGrid="0">
      <p:cViewPr varScale="1">
        <p:scale>
          <a:sx n="92" d="100"/>
          <a:sy n="92" d="100"/>
        </p:scale>
        <p:origin x="774" y="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3.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175"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5ed75ccf_0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35ed75ccf_0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g35f391192_0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2" name="Google Shape;142;g35f391192_0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645225" y="2762725"/>
            <a:ext cx="6736500" cy="1159800"/>
          </a:xfrm>
          <a:prstGeom prst="rect">
            <a:avLst/>
          </a:prstGeom>
        </p:spPr>
        <p:txBody>
          <a:bodyPr spcFirstLastPara="1" wrap="square" lIns="91425" tIns="91425" rIns="91425" bIns="91425" anchor="t" anchorCtr="0">
            <a:noAutofit/>
          </a:bodyPr>
          <a:lstStyle>
            <a:lvl1pPr lvl="0">
              <a:spcBef>
                <a:spcPts val="0"/>
              </a:spcBef>
              <a:spcAft>
                <a:spcPts val="0"/>
              </a:spcAft>
              <a:buClr>
                <a:schemeClr val="dk2"/>
              </a:buClr>
              <a:buSzPts val="4400"/>
              <a:buNone/>
              <a:defRPr sz="4400">
                <a:solidFill>
                  <a:schemeClr val="dk2"/>
                </a:solidFill>
              </a:defRPr>
            </a:lvl1pPr>
            <a:lvl2pPr lvl="1">
              <a:spcBef>
                <a:spcPts val="0"/>
              </a:spcBef>
              <a:spcAft>
                <a:spcPts val="0"/>
              </a:spcAft>
              <a:buClr>
                <a:schemeClr val="dk2"/>
              </a:buClr>
              <a:buSzPts val="4400"/>
              <a:buNone/>
              <a:defRPr sz="4400">
                <a:solidFill>
                  <a:schemeClr val="dk2"/>
                </a:solidFill>
              </a:defRPr>
            </a:lvl2pPr>
            <a:lvl3pPr lvl="2">
              <a:spcBef>
                <a:spcPts val="0"/>
              </a:spcBef>
              <a:spcAft>
                <a:spcPts val="0"/>
              </a:spcAft>
              <a:buClr>
                <a:schemeClr val="dk2"/>
              </a:buClr>
              <a:buSzPts val="4400"/>
              <a:buNone/>
              <a:defRPr sz="4400">
                <a:solidFill>
                  <a:schemeClr val="dk2"/>
                </a:solidFill>
              </a:defRPr>
            </a:lvl3pPr>
            <a:lvl4pPr lvl="3">
              <a:spcBef>
                <a:spcPts val="0"/>
              </a:spcBef>
              <a:spcAft>
                <a:spcPts val="0"/>
              </a:spcAft>
              <a:buClr>
                <a:schemeClr val="dk2"/>
              </a:buClr>
              <a:buSzPts val="4400"/>
              <a:buNone/>
              <a:defRPr sz="4400">
                <a:solidFill>
                  <a:schemeClr val="dk2"/>
                </a:solidFill>
              </a:defRPr>
            </a:lvl4pPr>
            <a:lvl5pPr lvl="4">
              <a:spcBef>
                <a:spcPts val="0"/>
              </a:spcBef>
              <a:spcAft>
                <a:spcPts val="0"/>
              </a:spcAft>
              <a:buClr>
                <a:schemeClr val="dk2"/>
              </a:buClr>
              <a:buSzPts val="4400"/>
              <a:buNone/>
              <a:defRPr sz="4400">
                <a:solidFill>
                  <a:schemeClr val="dk2"/>
                </a:solidFill>
              </a:defRPr>
            </a:lvl5pPr>
            <a:lvl6pPr lvl="5">
              <a:spcBef>
                <a:spcPts val="0"/>
              </a:spcBef>
              <a:spcAft>
                <a:spcPts val="0"/>
              </a:spcAft>
              <a:buClr>
                <a:schemeClr val="dk2"/>
              </a:buClr>
              <a:buSzPts val="4400"/>
              <a:buNone/>
              <a:defRPr sz="4400">
                <a:solidFill>
                  <a:schemeClr val="dk2"/>
                </a:solidFill>
              </a:defRPr>
            </a:lvl6pPr>
            <a:lvl7pPr lvl="6">
              <a:spcBef>
                <a:spcPts val="0"/>
              </a:spcBef>
              <a:spcAft>
                <a:spcPts val="0"/>
              </a:spcAft>
              <a:buClr>
                <a:schemeClr val="dk2"/>
              </a:buClr>
              <a:buSzPts val="4400"/>
              <a:buNone/>
              <a:defRPr sz="4400">
                <a:solidFill>
                  <a:schemeClr val="dk2"/>
                </a:solidFill>
              </a:defRPr>
            </a:lvl7pPr>
            <a:lvl8pPr lvl="7">
              <a:spcBef>
                <a:spcPts val="0"/>
              </a:spcBef>
              <a:spcAft>
                <a:spcPts val="0"/>
              </a:spcAft>
              <a:buClr>
                <a:schemeClr val="dk2"/>
              </a:buClr>
              <a:buSzPts val="4400"/>
              <a:buNone/>
              <a:defRPr sz="4400">
                <a:solidFill>
                  <a:schemeClr val="dk2"/>
                </a:solidFill>
              </a:defRPr>
            </a:lvl8pPr>
            <a:lvl9pPr lvl="8">
              <a:spcBef>
                <a:spcPts val="0"/>
              </a:spcBef>
              <a:spcAft>
                <a:spcPts val="0"/>
              </a:spcAft>
              <a:buClr>
                <a:schemeClr val="dk2"/>
              </a:buClr>
              <a:buSzPts val="4400"/>
              <a:buNone/>
              <a:defRPr sz="4400">
                <a:solidFill>
                  <a:schemeClr val="dk2"/>
                </a:solidFill>
              </a:defRPr>
            </a:lvl9pPr>
          </a:lstStyle>
          <a:p>
            <a:endParaRPr/>
          </a:p>
        </p:txBody>
      </p:sp>
      <p:sp>
        <p:nvSpPr>
          <p:cNvPr id="11" name="Google Shape;11;p2"/>
          <p:cNvSpPr/>
          <p:nvPr/>
        </p:nvSpPr>
        <p:spPr>
          <a:xfrm>
            <a:off x="5938246" y="2533163"/>
            <a:ext cx="7218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a:off x="6659861" y="2533163"/>
            <a:ext cx="7218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a:off x="-1" y="2533163"/>
            <a:ext cx="7218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2"/>
          <p:cNvSpPr/>
          <p:nvPr/>
        </p:nvSpPr>
        <p:spPr>
          <a:xfrm>
            <a:off x="721425" y="2533163"/>
            <a:ext cx="52167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ubtitle">
  <p:cSld name="TITLE_1">
    <p:spTree>
      <p:nvGrpSpPr>
        <p:cNvPr id="1" name="Shape 15"/>
        <p:cNvGrpSpPr/>
        <p:nvPr/>
      </p:nvGrpSpPr>
      <p:grpSpPr>
        <a:xfrm>
          <a:off x="0" y="0"/>
          <a:ext cx="0" cy="0"/>
          <a:chOff x="0" y="0"/>
          <a:chExt cx="0" cy="0"/>
        </a:xfrm>
      </p:grpSpPr>
      <p:sp>
        <p:nvSpPr>
          <p:cNvPr id="16" name="Google Shape;16;p3"/>
          <p:cNvSpPr/>
          <p:nvPr/>
        </p:nvSpPr>
        <p:spPr>
          <a:xfrm>
            <a:off x="0" y="0"/>
            <a:ext cx="9144000" cy="39930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txBox="1">
            <a:spLocks noGrp="1"/>
          </p:cNvSpPr>
          <p:nvPr>
            <p:ph type="ctrTitle"/>
          </p:nvPr>
        </p:nvSpPr>
        <p:spPr>
          <a:xfrm>
            <a:off x="685800" y="1583342"/>
            <a:ext cx="7772400" cy="11598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lt1"/>
              </a:buClr>
              <a:buSzPts val="4800"/>
              <a:buNone/>
              <a:defRPr sz="4800">
                <a:solidFill>
                  <a:schemeClr val="lt1"/>
                </a:solidFill>
              </a:defRPr>
            </a:lvl1pPr>
            <a:lvl2pPr lvl="1" algn="ctr" rtl="0">
              <a:spcBef>
                <a:spcPts val="0"/>
              </a:spcBef>
              <a:spcAft>
                <a:spcPts val="0"/>
              </a:spcAft>
              <a:buClr>
                <a:schemeClr val="lt1"/>
              </a:buClr>
              <a:buSzPts val="4800"/>
              <a:buNone/>
              <a:defRPr sz="4800">
                <a:solidFill>
                  <a:schemeClr val="lt1"/>
                </a:solidFill>
              </a:defRPr>
            </a:lvl2pPr>
            <a:lvl3pPr lvl="2" algn="ctr" rtl="0">
              <a:spcBef>
                <a:spcPts val="0"/>
              </a:spcBef>
              <a:spcAft>
                <a:spcPts val="0"/>
              </a:spcAft>
              <a:buClr>
                <a:schemeClr val="lt1"/>
              </a:buClr>
              <a:buSzPts val="4800"/>
              <a:buNone/>
              <a:defRPr sz="4800">
                <a:solidFill>
                  <a:schemeClr val="lt1"/>
                </a:solidFill>
              </a:defRPr>
            </a:lvl3pPr>
            <a:lvl4pPr lvl="3" algn="ctr" rtl="0">
              <a:spcBef>
                <a:spcPts val="0"/>
              </a:spcBef>
              <a:spcAft>
                <a:spcPts val="0"/>
              </a:spcAft>
              <a:buClr>
                <a:schemeClr val="lt1"/>
              </a:buClr>
              <a:buSzPts val="4800"/>
              <a:buNone/>
              <a:defRPr sz="4800">
                <a:solidFill>
                  <a:schemeClr val="lt1"/>
                </a:solidFill>
              </a:defRPr>
            </a:lvl4pPr>
            <a:lvl5pPr lvl="4" algn="ctr" rtl="0">
              <a:spcBef>
                <a:spcPts val="0"/>
              </a:spcBef>
              <a:spcAft>
                <a:spcPts val="0"/>
              </a:spcAft>
              <a:buClr>
                <a:schemeClr val="lt1"/>
              </a:buClr>
              <a:buSzPts val="4800"/>
              <a:buNone/>
              <a:defRPr sz="4800">
                <a:solidFill>
                  <a:schemeClr val="lt1"/>
                </a:solidFill>
              </a:defRPr>
            </a:lvl5pPr>
            <a:lvl6pPr lvl="5" algn="ctr" rtl="0">
              <a:spcBef>
                <a:spcPts val="0"/>
              </a:spcBef>
              <a:spcAft>
                <a:spcPts val="0"/>
              </a:spcAft>
              <a:buClr>
                <a:schemeClr val="lt1"/>
              </a:buClr>
              <a:buSzPts val="4800"/>
              <a:buNone/>
              <a:defRPr sz="4800">
                <a:solidFill>
                  <a:schemeClr val="lt1"/>
                </a:solidFill>
              </a:defRPr>
            </a:lvl6pPr>
            <a:lvl7pPr lvl="6" algn="ctr" rtl="0">
              <a:spcBef>
                <a:spcPts val="0"/>
              </a:spcBef>
              <a:spcAft>
                <a:spcPts val="0"/>
              </a:spcAft>
              <a:buClr>
                <a:schemeClr val="lt1"/>
              </a:buClr>
              <a:buSzPts val="4800"/>
              <a:buNone/>
              <a:defRPr sz="4800">
                <a:solidFill>
                  <a:schemeClr val="lt1"/>
                </a:solidFill>
              </a:defRPr>
            </a:lvl7pPr>
            <a:lvl8pPr lvl="7" algn="ctr" rtl="0">
              <a:spcBef>
                <a:spcPts val="0"/>
              </a:spcBef>
              <a:spcAft>
                <a:spcPts val="0"/>
              </a:spcAft>
              <a:buClr>
                <a:schemeClr val="lt1"/>
              </a:buClr>
              <a:buSzPts val="4800"/>
              <a:buNone/>
              <a:defRPr sz="4800">
                <a:solidFill>
                  <a:schemeClr val="lt1"/>
                </a:solidFill>
              </a:defRPr>
            </a:lvl8pPr>
            <a:lvl9pPr lvl="8" algn="ctr" rtl="0">
              <a:spcBef>
                <a:spcPts val="0"/>
              </a:spcBef>
              <a:spcAft>
                <a:spcPts val="0"/>
              </a:spcAft>
              <a:buClr>
                <a:schemeClr val="lt1"/>
              </a:buClr>
              <a:buSzPts val="4800"/>
              <a:buNone/>
              <a:defRPr sz="4800">
                <a:solidFill>
                  <a:schemeClr val="lt1"/>
                </a:solidFill>
              </a:defRPr>
            </a:lvl9pPr>
          </a:lstStyle>
          <a:p>
            <a:endParaRPr/>
          </a:p>
        </p:txBody>
      </p:sp>
      <p:sp>
        <p:nvSpPr>
          <p:cNvPr id="18" name="Google Shape;18;p3"/>
          <p:cNvSpPr txBox="1">
            <a:spLocks noGrp="1"/>
          </p:cNvSpPr>
          <p:nvPr>
            <p:ph type="subTitle" idx="1"/>
          </p:nvPr>
        </p:nvSpPr>
        <p:spPr>
          <a:xfrm>
            <a:off x="685800" y="2840053"/>
            <a:ext cx="7772400" cy="7848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lt1"/>
              </a:buClr>
              <a:buSzPts val="2400"/>
              <a:buNone/>
              <a:defRPr sz="2400" b="1">
                <a:solidFill>
                  <a:schemeClr val="lt1"/>
                </a:solidFill>
              </a:defRPr>
            </a:lvl1pPr>
            <a:lvl2pPr lvl="1" algn="ctr" rtl="0">
              <a:spcBef>
                <a:spcPts val="0"/>
              </a:spcBef>
              <a:spcAft>
                <a:spcPts val="0"/>
              </a:spcAft>
              <a:buClr>
                <a:schemeClr val="lt1"/>
              </a:buClr>
              <a:buSzPts val="2400"/>
              <a:buNone/>
              <a:defRPr b="1">
                <a:solidFill>
                  <a:schemeClr val="lt1"/>
                </a:solidFill>
              </a:defRPr>
            </a:lvl2pPr>
            <a:lvl3pPr lvl="2" algn="ctr" rtl="0">
              <a:spcBef>
                <a:spcPts val="0"/>
              </a:spcBef>
              <a:spcAft>
                <a:spcPts val="0"/>
              </a:spcAft>
              <a:buClr>
                <a:schemeClr val="lt1"/>
              </a:buClr>
              <a:buSzPts val="2400"/>
              <a:buNone/>
              <a:defRPr b="1">
                <a:solidFill>
                  <a:schemeClr val="lt1"/>
                </a:solidFill>
              </a:defRPr>
            </a:lvl3pPr>
            <a:lvl4pPr lvl="3" algn="ctr" rtl="0">
              <a:spcBef>
                <a:spcPts val="0"/>
              </a:spcBef>
              <a:spcAft>
                <a:spcPts val="0"/>
              </a:spcAft>
              <a:buClr>
                <a:schemeClr val="lt1"/>
              </a:buClr>
              <a:buSzPts val="2400"/>
              <a:buNone/>
              <a:defRPr sz="2400" b="1">
                <a:solidFill>
                  <a:schemeClr val="lt1"/>
                </a:solidFill>
              </a:defRPr>
            </a:lvl4pPr>
            <a:lvl5pPr lvl="4" algn="ctr" rtl="0">
              <a:spcBef>
                <a:spcPts val="0"/>
              </a:spcBef>
              <a:spcAft>
                <a:spcPts val="0"/>
              </a:spcAft>
              <a:buClr>
                <a:schemeClr val="lt1"/>
              </a:buClr>
              <a:buSzPts val="2400"/>
              <a:buNone/>
              <a:defRPr sz="2400" b="1">
                <a:solidFill>
                  <a:schemeClr val="lt1"/>
                </a:solidFill>
              </a:defRPr>
            </a:lvl5pPr>
            <a:lvl6pPr lvl="5" algn="ctr" rtl="0">
              <a:spcBef>
                <a:spcPts val="0"/>
              </a:spcBef>
              <a:spcAft>
                <a:spcPts val="0"/>
              </a:spcAft>
              <a:buClr>
                <a:schemeClr val="lt1"/>
              </a:buClr>
              <a:buSzPts val="2400"/>
              <a:buNone/>
              <a:defRPr sz="2400" b="1">
                <a:solidFill>
                  <a:schemeClr val="lt1"/>
                </a:solidFill>
              </a:defRPr>
            </a:lvl6pPr>
            <a:lvl7pPr lvl="6" algn="ctr" rtl="0">
              <a:spcBef>
                <a:spcPts val="0"/>
              </a:spcBef>
              <a:spcAft>
                <a:spcPts val="0"/>
              </a:spcAft>
              <a:buClr>
                <a:schemeClr val="lt1"/>
              </a:buClr>
              <a:buSzPts val="2400"/>
              <a:buNone/>
              <a:defRPr sz="2400" b="1">
                <a:solidFill>
                  <a:schemeClr val="lt1"/>
                </a:solidFill>
              </a:defRPr>
            </a:lvl7pPr>
            <a:lvl8pPr lvl="7" algn="ctr" rtl="0">
              <a:spcBef>
                <a:spcPts val="0"/>
              </a:spcBef>
              <a:spcAft>
                <a:spcPts val="0"/>
              </a:spcAft>
              <a:buClr>
                <a:schemeClr val="lt1"/>
              </a:buClr>
              <a:buSzPts val="2400"/>
              <a:buNone/>
              <a:defRPr sz="2400" b="1">
                <a:solidFill>
                  <a:schemeClr val="lt1"/>
                </a:solidFill>
              </a:defRPr>
            </a:lvl8pPr>
            <a:lvl9pPr lvl="8" algn="ctr" rtl="0">
              <a:spcBef>
                <a:spcPts val="0"/>
              </a:spcBef>
              <a:spcAft>
                <a:spcPts val="0"/>
              </a:spcAft>
              <a:buClr>
                <a:schemeClr val="lt1"/>
              </a:buClr>
              <a:buSzPts val="2400"/>
              <a:buNone/>
              <a:defRPr sz="2400" b="1">
                <a:solidFill>
                  <a:schemeClr val="lt1"/>
                </a:solidFill>
              </a:defRPr>
            </a:lvl9pPr>
          </a:lstStyle>
          <a:p>
            <a:endParaRPr/>
          </a:p>
        </p:txBody>
      </p:sp>
      <p:sp>
        <p:nvSpPr>
          <p:cNvPr id="19" name="Google Shape;19;p3"/>
          <p:cNvSpPr/>
          <p:nvPr/>
        </p:nvSpPr>
        <p:spPr>
          <a:xfrm>
            <a:off x="3047704" y="3992850"/>
            <a:ext cx="3047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6096271" y="3992850"/>
            <a:ext cx="3047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3"/>
          <p:cNvSpPr/>
          <p:nvPr/>
        </p:nvSpPr>
        <p:spPr>
          <a:xfrm>
            <a:off x="1" y="3992850"/>
            <a:ext cx="3047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3"/>
          <p:cNvSpPr txBox="1">
            <a:spLocks noGrp="1"/>
          </p:cNvSpPr>
          <p:nvPr>
            <p:ph type="sldNum" idx="12"/>
          </p:nvPr>
        </p:nvSpPr>
        <p:spPr>
          <a:xfrm>
            <a:off x="-125" y="4830281"/>
            <a:ext cx="9144000" cy="313500"/>
          </a:xfrm>
          <a:prstGeom prst="rect">
            <a:avLst/>
          </a:prstGeom>
        </p:spPr>
        <p:txBody>
          <a:bodyPr spcFirstLastPara="1" wrap="square" lIns="91425" tIns="91425" rIns="91425" bIns="91425" anchor="t" anchorCtr="0">
            <a:noAutofit/>
          </a:bodyPr>
          <a:lstStyle>
            <a:lvl1pPr lvl="0" algn="ctr">
              <a:buNone/>
              <a:defRPr/>
            </a:lvl1pPr>
            <a:lvl2pPr lvl="1" algn="ctr">
              <a:buNone/>
              <a:defRPr/>
            </a:lvl2pPr>
            <a:lvl3pPr lvl="2" algn="ctr">
              <a:buNone/>
              <a:defRPr/>
            </a:lvl3pPr>
            <a:lvl4pPr lvl="3" algn="ctr">
              <a:buNone/>
              <a:defRPr/>
            </a:lvl4pPr>
            <a:lvl5pPr lvl="4" algn="ctr">
              <a:buNone/>
              <a:defRPr/>
            </a:lvl5pPr>
            <a:lvl6pPr lvl="5" algn="ctr">
              <a:buNone/>
              <a:defRPr/>
            </a:lvl6pPr>
            <a:lvl7pPr lvl="6" algn="ctr">
              <a:buNone/>
              <a:defRPr/>
            </a:lvl7pPr>
            <a:lvl8pPr lvl="7" algn="ctr">
              <a:buNone/>
              <a:defRPr/>
            </a:lvl8pPr>
            <a:lvl9pPr lvl="8" algn="ctr">
              <a:buNon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 1 column" type="tx">
  <p:cSld name="TITLE_AND_BODY">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93700" y="358388"/>
            <a:ext cx="6462600" cy="8574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33" name="Google Shape;33;p5"/>
          <p:cNvSpPr txBox="1">
            <a:spLocks noGrp="1"/>
          </p:cNvSpPr>
          <p:nvPr>
            <p:ph type="body" idx="1"/>
          </p:nvPr>
        </p:nvSpPr>
        <p:spPr>
          <a:xfrm>
            <a:off x="893700" y="1373588"/>
            <a:ext cx="6462600" cy="3552300"/>
          </a:xfrm>
          <a:prstGeom prst="rect">
            <a:avLst/>
          </a:prstGeom>
        </p:spPr>
        <p:txBody>
          <a:bodyPr spcFirstLastPara="1" wrap="square" lIns="91425" tIns="91425" rIns="91425" bIns="91425" anchor="t" anchorCtr="0">
            <a:noAutofit/>
          </a:bodyPr>
          <a:lstStyle>
            <a:lvl1pPr marL="457200" lvl="0" indent="-342900">
              <a:spcBef>
                <a:spcPts val="600"/>
              </a:spcBef>
              <a:spcAft>
                <a:spcPts val="0"/>
              </a:spcAft>
              <a:buClr>
                <a:schemeClr val="accent6"/>
              </a:buClr>
              <a:buSzPts val="1800"/>
              <a:buChar char="▷"/>
              <a:defRPr>
                <a:solidFill>
                  <a:schemeClr val="dk1"/>
                </a:solidFill>
              </a:defRPr>
            </a:lvl1pPr>
            <a:lvl2pPr marL="914400" lvl="1" indent="-381000">
              <a:spcBef>
                <a:spcPts val="0"/>
              </a:spcBef>
              <a:spcAft>
                <a:spcPts val="0"/>
              </a:spcAft>
              <a:buClr>
                <a:schemeClr val="dk1"/>
              </a:buClr>
              <a:buSzPts val="2400"/>
              <a:buChar char="○"/>
              <a:defRPr>
                <a:solidFill>
                  <a:schemeClr val="dk1"/>
                </a:solidFill>
              </a:defRPr>
            </a:lvl2pPr>
            <a:lvl3pPr marL="1371600" lvl="2" indent="-381000">
              <a:spcBef>
                <a:spcPts val="0"/>
              </a:spcBef>
              <a:spcAft>
                <a:spcPts val="0"/>
              </a:spcAft>
              <a:buClr>
                <a:schemeClr val="dk1"/>
              </a:buClr>
              <a:buSzPts val="2400"/>
              <a:buChar char="■"/>
              <a:defRPr>
                <a:solidFill>
                  <a:schemeClr val="dk1"/>
                </a:solidFill>
              </a:defRPr>
            </a:lvl3pPr>
            <a:lvl4pPr marL="1828800" lvl="3" indent="-381000">
              <a:spcBef>
                <a:spcPts val="0"/>
              </a:spcBef>
              <a:spcAft>
                <a:spcPts val="0"/>
              </a:spcAft>
              <a:buClr>
                <a:schemeClr val="dk1"/>
              </a:buClr>
              <a:buSzPts val="2400"/>
              <a:buChar char="●"/>
              <a:defRPr>
                <a:solidFill>
                  <a:schemeClr val="dk1"/>
                </a:solidFill>
              </a:defRPr>
            </a:lvl4pPr>
            <a:lvl5pPr marL="2286000" lvl="4" indent="-381000">
              <a:spcBef>
                <a:spcPts val="0"/>
              </a:spcBef>
              <a:spcAft>
                <a:spcPts val="0"/>
              </a:spcAft>
              <a:buClr>
                <a:schemeClr val="dk1"/>
              </a:buClr>
              <a:buSzPts val="2400"/>
              <a:buChar char="○"/>
              <a:defRPr>
                <a:solidFill>
                  <a:schemeClr val="dk1"/>
                </a:solidFill>
              </a:defRPr>
            </a:lvl5pPr>
            <a:lvl6pPr marL="2743200" lvl="5" indent="-381000">
              <a:spcBef>
                <a:spcPts val="0"/>
              </a:spcBef>
              <a:spcAft>
                <a:spcPts val="0"/>
              </a:spcAft>
              <a:buClr>
                <a:schemeClr val="dk1"/>
              </a:buClr>
              <a:buSzPts val="2400"/>
              <a:buChar char="■"/>
              <a:defRPr>
                <a:solidFill>
                  <a:schemeClr val="dk1"/>
                </a:solidFill>
              </a:defRPr>
            </a:lvl6pPr>
            <a:lvl7pPr marL="3200400" lvl="6" indent="-381000">
              <a:spcBef>
                <a:spcPts val="0"/>
              </a:spcBef>
              <a:spcAft>
                <a:spcPts val="0"/>
              </a:spcAft>
              <a:buClr>
                <a:schemeClr val="dk1"/>
              </a:buClr>
              <a:buSzPts val="2400"/>
              <a:buChar char="●"/>
              <a:defRPr>
                <a:solidFill>
                  <a:schemeClr val="dk1"/>
                </a:solidFill>
              </a:defRPr>
            </a:lvl7pPr>
            <a:lvl8pPr marL="3657600" lvl="7" indent="-381000">
              <a:spcBef>
                <a:spcPts val="0"/>
              </a:spcBef>
              <a:spcAft>
                <a:spcPts val="0"/>
              </a:spcAft>
              <a:buClr>
                <a:schemeClr val="dk1"/>
              </a:buClr>
              <a:buSzPts val="2400"/>
              <a:buChar char="○"/>
              <a:defRPr>
                <a:solidFill>
                  <a:schemeClr val="dk1"/>
                </a:solidFill>
              </a:defRPr>
            </a:lvl8pPr>
            <a:lvl9pPr marL="4114800" lvl="8" indent="-381000">
              <a:spcBef>
                <a:spcPts val="0"/>
              </a:spcBef>
              <a:spcAft>
                <a:spcPts val="0"/>
              </a:spcAft>
              <a:buClr>
                <a:schemeClr val="dk1"/>
              </a:buClr>
              <a:buSzPts val="2400"/>
              <a:buChar char="■"/>
              <a:defRPr>
                <a:solidFill>
                  <a:schemeClr val="dk1"/>
                </a:solidFill>
              </a:defRPr>
            </a:lvl9pPr>
          </a:lstStyle>
          <a:p>
            <a:endParaRPr/>
          </a:p>
        </p:txBody>
      </p:sp>
      <p:sp>
        <p:nvSpPr>
          <p:cNvPr id="34" name="Google Shape;34;p5"/>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5"/>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5"/>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5"/>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5"/>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 2 columns" type="twoColTx">
  <p:cSld name="TITLE_AND_TWO_COLUMNS">
    <p:spTree>
      <p:nvGrpSpPr>
        <p:cNvPr id="1" name="Shape 39"/>
        <p:cNvGrpSpPr/>
        <p:nvPr/>
      </p:nvGrpSpPr>
      <p:grpSpPr>
        <a:xfrm>
          <a:off x="0" y="0"/>
          <a:ext cx="0" cy="0"/>
          <a:chOff x="0" y="0"/>
          <a:chExt cx="0" cy="0"/>
        </a:xfrm>
      </p:grpSpPr>
      <p:sp>
        <p:nvSpPr>
          <p:cNvPr id="40" name="Google Shape;40;p6"/>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6"/>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43;p6"/>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44;p6"/>
          <p:cNvSpPr txBox="1">
            <a:spLocks noGrp="1"/>
          </p:cNvSpPr>
          <p:nvPr>
            <p:ph type="title"/>
          </p:nvPr>
        </p:nvSpPr>
        <p:spPr>
          <a:xfrm>
            <a:off x="893700" y="358388"/>
            <a:ext cx="6462600" cy="857400"/>
          </a:xfrm>
          <a:prstGeom prst="rect">
            <a:avLst/>
          </a:prstGeom>
        </p:spPr>
        <p:txBody>
          <a:bodyPr spcFirstLastPara="1" wrap="square" lIns="91425" tIns="91425" rIns="91425" bIns="91425" anchor="b" anchorCtr="0">
            <a:noAutofit/>
          </a:bodyPr>
          <a:lstStyle>
            <a:lvl1pPr lvl="0">
              <a:spcBef>
                <a:spcPts val="0"/>
              </a:spcBef>
              <a:spcAft>
                <a:spcPts val="0"/>
              </a:spcAft>
              <a:buSzPts val="3200"/>
              <a:buNone/>
              <a:defRPr/>
            </a:lvl1pPr>
            <a:lvl2pPr lvl="1">
              <a:spcBef>
                <a:spcPts val="0"/>
              </a:spcBef>
              <a:spcAft>
                <a:spcPts val="0"/>
              </a:spcAft>
              <a:buSzPts val="3200"/>
              <a:buNone/>
              <a:defRPr/>
            </a:lvl2pPr>
            <a:lvl3pPr lvl="2">
              <a:spcBef>
                <a:spcPts val="0"/>
              </a:spcBef>
              <a:spcAft>
                <a:spcPts val="0"/>
              </a:spcAft>
              <a:buSzPts val="3200"/>
              <a:buNone/>
              <a:defRPr/>
            </a:lvl3pPr>
            <a:lvl4pPr lvl="3">
              <a:spcBef>
                <a:spcPts val="0"/>
              </a:spcBef>
              <a:spcAft>
                <a:spcPts val="0"/>
              </a:spcAft>
              <a:buSzPts val="3200"/>
              <a:buNone/>
              <a:defRPr/>
            </a:lvl4pPr>
            <a:lvl5pPr lvl="4">
              <a:spcBef>
                <a:spcPts val="0"/>
              </a:spcBef>
              <a:spcAft>
                <a:spcPts val="0"/>
              </a:spcAft>
              <a:buSzPts val="3200"/>
              <a:buNone/>
              <a:defRPr/>
            </a:lvl5pPr>
            <a:lvl6pPr lvl="5">
              <a:spcBef>
                <a:spcPts val="0"/>
              </a:spcBef>
              <a:spcAft>
                <a:spcPts val="0"/>
              </a:spcAft>
              <a:buSzPts val="3200"/>
              <a:buNone/>
              <a:defRPr/>
            </a:lvl6pPr>
            <a:lvl7pPr lvl="6">
              <a:spcBef>
                <a:spcPts val="0"/>
              </a:spcBef>
              <a:spcAft>
                <a:spcPts val="0"/>
              </a:spcAft>
              <a:buSzPts val="3200"/>
              <a:buNone/>
              <a:defRPr/>
            </a:lvl7pPr>
            <a:lvl8pPr lvl="7">
              <a:spcBef>
                <a:spcPts val="0"/>
              </a:spcBef>
              <a:spcAft>
                <a:spcPts val="0"/>
              </a:spcAft>
              <a:buSzPts val="3200"/>
              <a:buNone/>
              <a:defRPr/>
            </a:lvl8pPr>
            <a:lvl9pPr lvl="8">
              <a:spcBef>
                <a:spcPts val="0"/>
              </a:spcBef>
              <a:spcAft>
                <a:spcPts val="0"/>
              </a:spcAft>
              <a:buSzPts val="3200"/>
              <a:buNone/>
              <a:defRPr/>
            </a:lvl9pPr>
          </a:lstStyle>
          <a:p>
            <a:endParaRPr/>
          </a:p>
        </p:txBody>
      </p:sp>
      <p:sp>
        <p:nvSpPr>
          <p:cNvPr id="45" name="Google Shape;45;p6"/>
          <p:cNvSpPr txBox="1">
            <a:spLocks noGrp="1"/>
          </p:cNvSpPr>
          <p:nvPr>
            <p:ph type="body" idx="1"/>
          </p:nvPr>
        </p:nvSpPr>
        <p:spPr>
          <a:xfrm>
            <a:off x="893625" y="1200150"/>
            <a:ext cx="3136800" cy="3725700"/>
          </a:xfrm>
          <a:prstGeom prst="rect">
            <a:avLst/>
          </a:prstGeom>
        </p:spPr>
        <p:txBody>
          <a:bodyPr spcFirstLastPara="1" wrap="square" lIns="91425" tIns="91425" rIns="91425" bIns="91425"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46" name="Google Shape;46;p6"/>
          <p:cNvSpPr txBox="1">
            <a:spLocks noGrp="1"/>
          </p:cNvSpPr>
          <p:nvPr>
            <p:ph type="body" idx="2"/>
          </p:nvPr>
        </p:nvSpPr>
        <p:spPr>
          <a:xfrm>
            <a:off x="4219456" y="1200150"/>
            <a:ext cx="3136800" cy="3725700"/>
          </a:xfrm>
          <a:prstGeom prst="rect">
            <a:avLst/>
          </a:prstGeom>
        </p:spPr>
        <p:txBody>
          <a:bodyPr spcFirstLastPara="1" wrap="square" lIns="91425" tIns="91425" rIns="91425" bIns="91425" anchor="t" anchorCtr="0">
            <a:noAutofit/>
          </a:bodyPr>
          <a:lstStyle>
            <a:lvl1pPr marL="457200" lvl="0" indent="-355600">
              <a:spcBef>
                <a:spcPts val="600"/>
              </a:spcBef>
              <a:spcAft>
                <a:spcPts val="0"/>
              </a:spcAft>
              <a:buSzPts val="2000"/>
              <a:buChar char="▷"/>
              <a:defRPr sz="2000"/>
            </a:lvl1pPr>
            <a:lvl2pPr marL="914400" lvl="1" indent="-355600">
              <a:spcBef>
                <a:spcPts val="0"/>
              </a:spcBef>
              <a:spcAft>
                <a:spcPts val="0"/>
              </a:spcAft>
              <a:buSzPts val="2000"/>
              <a:buChar char="○"/>
              <a:defRPr sz="2000"/>
            </a:lvl2pPr>
            <a:lvl3pPr marL="1371600" lvl="2" indent="-355600">
              <a:spcBef>
                <a:spcPts val="0"/>
              </a:spcBef>
              <a:spcAft>
                <a:spcPts val="0"/>
              </a:spcAft>
              <a:buSzPts val="2000"/>
              <a:buChar char="■"/>
              <a:defRPr sz="2000"/>
            </a:lvl3pPr>
            <a:lvl4pPr marL="1828800" lvl="3" indent="-355600">
              <a:spcBef>
                <a:spcPts val="0"/>
              </a:spcBef>
              <a:spcAft>
                <a:spcPts val="0"/>
              </a:spcAft>
              <a:buSzPts val="2000"/>
              <a:buChar char="●"/>
              <a:defRPr sz="2000"/>
            </a:lvl4pPr>
            <a:lvl5pPr marL="2286000" lvl="4" indent="-355600">
              <a:spcBef>
                <a:spcPts val="0"/>
              </a:spcBef>
              <a:spcAft>
                <a:spcPts val="0"/>
              </a:spcAft>
              <a:buSzPts val="2000"/>
              <a:buChar char="○"/>
              <a:defRPr sz="2000"/>
            </a:lvl5pPr>
            <a:lvl6pPr marL="2743200" lvl="5" indent="-355600">
              <a:spcBef>
                <a:spcPts val="0"/>
              </a:spcBef>
              <a:spcAft>
                <a:spcPts val="0"/>
              </a:spcAft>
              <a:buSzPts val="2000"/>
              <a:buChar char="■"/>
              <a:defRPr sz="2000"/>
            </a:lvl6pPr>
            <a:lvl7pPr marL="3200400" lvl="6" indent="-355600">
              <a:spcBef>
                <a:spcPts val="0"/>
              </a:spcBef>
              <a:spcAft>
                <a:spcPts val="0"/>
              </a:spcAft>
              <a:buSzPts val="2000"/>
              <a:buChar char="●"/>
              <a:defRPr sz="2000"/>
            </a:lvl7pPr>
            <a:lvl8pPr marL="3657600" lvl="7" indent="-355600">
              <a:spcBef>
                <a:spcPts val="0"/>
              </a:spcBef>
              <a:spcAft>
                <a:spcPts val="0"/>
              </a:spcAft>
              <a:buSzPts val="2000"/>
              <a:buChar char="○"/>
              <a:defRPr sz="2000"/>
            </a:lvl8pPr>
            <a:lvl9pPr marL="4114800" lvl="8" indent="-355600">
              <a:spcBef>
                <a:spcPts val="0"/>
              </a:spcBef>
              <a:spcAft>
                <a:spcPts val="0"/>
              </a:spcAft>
              <a:buSzPts val="2000"/>
              <a:buChar char="■"/>
              <a:defRPr sz="2000"/>
            </a:lvl9pPr>
          </a:lstStyle>
          <a:p>
            <a:endParaRPr/>
          </a:p>
        </p:txBody>
      </p:sp>
      <p:sp>
        <p:nvSpPr>
          <p:cNvPr id="47" name="Google Shape;47;p6"/>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2"/>
        <p:cNvGrpSpPr/>
        <p:nvPr/>
      </p:nvGrpSpPr>
      <p:grpSpPr>
        <a:xfrm>
          <a:off x="0" y="0"/>
          <a:ext cx="0" cy="0"/>
          <a:chOff x="0" y="0"/>
          <a:chExt cx="0" cy="0"/>
        </a:xfrm>
      </p:grpSpPr>
      <p:sp>
        <p:nvSpPr>
          <p:cNvPr id="73" name="Google Shape;73;p10"/>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10"/>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0"/>
          <p:cNvSpPr/>
          <p:nvPr/>
        </p:nvSpPr>
        <p:spPr>
          <a:xfrm>
            <a:off x="0" y="5066325"/>
            <a:ext cx="8937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0"/>
          <p:cNvSpPr/>
          <p:nvPr/>
        </p:nvSpPr>
        <p:spPr>
          <a:xfrm>
            <a:off x="893710" y="5066325"/>
            <a:ext cx="6462600" cy="771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0"/>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color background">
  <p:cSld name="BLANK_1">
    <p:bg>
      <p:bgPr>
        <a:solidFill>
          <a:schemeClr val="accent1"/>
        </a:solidFill>
        <a:effectLst/>
      </p:bgPr>
    </p:bg>
    <p:spTree>
      <p:nvGrpSpPr>
        <p:cNvPr id="1" name="Shape 78"/>
        <p:cNvGrpSpPr/>
        <p:nvPr/>
      </p:nvGrpSpPr>
      <p:grpSpPr>
        <a:xfrm>
          <a:off x="0" y="0"/>
          <a:ext cx="0" cy="0"/>
          <a:chOff x="0" y="0"/>
          <a:chExt cx="0" cy="0"/>
        </a:xfrm>
      </p:grpSpPr>
      <p:sp>
        <p:nvSpPr>
          <p:cNvPr id="79" name="Google Shape;79;p11"/>
          <p:cNvSpPr/>
          <p:nvPr/>
        </p:nvSpPr>
        <p:spPr>
          <a:xfrm>
            <a:off x="7356366" y="5066325"/>
            <a:ext cx="893700" cy="771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a:off x="8250312" y="5066325"/>
            <a:ext cx="893700" cy="771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a:off x="0" y="5066325"/>
            <a:ext cx="893700" cy="771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a:off x="893710" y="5066325"/>
            <a:ext cx="6462600" cy="771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11"/>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93700" y="358388"/>
            <a:ext cx="6462600" cy="8574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1pPr>
            <a:lvl2pPr lvl="1">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2pPr>
            <a:lvl3pPr lvl="2">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3pPr>
            <a:lvl4pPr lvl="3">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4pPr>
            <a:lvl5pPr lvl="4">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5pPr>
            <a:lvl6pPr lvl="5">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6pPr>
            <a:lvl7pPr lvl="6">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7pPr>
            <a:lvl8pPr lvl="7">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8pPr>
            <a:lvl9pPr lvl="8">
              <a:spcBef>
                <a:spcPts val="0"/>
              </a:spcBef>
              <a:spcAft>
                <a:spcPts val="0"/>
              </a:spcAft>
              <a:buClr>
                <a:schemeClr val="accent6"/>
              </a:buClr>
              <a:buSzPts val="3200"/>
              <a:buFont typeface="Raleway"/>
              <a:buNone/>
              <a:defRPr sz="3200">
                <a:solidFill>
                  <a:schemeClr val="accent6"/>
                </a:solidFill>
                <a:latin typeface="Raleway"/>
                <a:ea typeface="Raleway"/>
                <a:cs typeface="Raleway"/>
                <a:sym typeface="Raleway"/>
              </a:defRPr>
            </a:lvl9pPr>
          </a:lstStyle>
          <a:p>
            <a:endParaRPr/>
          </a:p>
        </p:txBody>
      </p:sp>
      <p:sp>
        <p:nvSpPr>
          <p:cNvPr id="7" name="Google Shape;7;p1"/>
          <p:cNvSpPr txBox="1">
            <a:spLocks noGrp="1"/>
          </p:cNvSpPr>
          <p:nvPr>
            <p:ph type="body" idx="1"/>
          </p:nvPr>
        </p:nvSpPr>
        <p:spPr>
          <a:xfrm>
            <a:off x="893700" y="1373588"/>
            <a:ext cx="6462600" cy="3552300"/>
          </a:xfrm>
          <a:prstGeom prst="rect">
            <a:avLst/>
          </a:prstGeom>
          <a:noFill/>
          <a:ln>
            <a:noFill/>
          </a:ln>
        </p:spPr>
        <p:txBody>
          <a:bodyPr spcFirstLastPara="1" wrap="square" lIns="91425" tIns="91425" rIns="91425" bIns="91425" anchor="t" anchorCtr="0">
            <a:noAutofit/>
          </a:bodyPr>
          <a:lstStyle>
            <a:lvl1pPr marL="457200" lvl="0" indent="-381000">
              <a:spcBef>
                <a:spcPts val="600"/>
              </a:spcBef>
              <a:spcAft>
                <a:spcPts val="0"/>
              </a:spcAft>
              <a:buClr>
                <a:schemeClr val="accent6"/>
              </a:buClr>
              <a:buSzPts val="2400"/>
              <a:buFont typeface="Lato"/>
              <a:buChar char="▷"/>
              <a:defRPr sz="2400">
                <a:solidFill>
                  <a:schemeClr val="dk1"/>
                </a:solidFill>
                <a:latin typeface="Lato"/>
                <a:ea typeface="Lato"/>
                <a:cs typeface="Lato"/>
                <a:sym typeface="Lato"/>
              </a:defRPr>
            </a:lvl1pPr>
            <a:lvl2pPr marL="914400" lvl="1"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2pPr>
            <a:lvl3pPr marL="1371600" lvl="2"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3pPr>
            <a:lvl4pPr marL="1828800" lvl="3"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4pPr>
            <a:lvl5pPr marL="2286000" lvl="4"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5pPr>
            <a:lvl6pPr marL="2743200" lvl="5"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6pPr>
            <a:lvl7pPr marL="3200400" lvl="6"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7pPr>
            <a:lvl8pPr marL="3657600" lvl="7"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8pPr>
            <a:lvl9pPr marL="4114800" lvl="8" indent="-381000">
              <a:spcBef>
                <a:spcPts val="0"/>
              </a:spcBef>
              <a:spcAft>
                <a:spcPts val="0"/>
              </a:spcAft>
              <a:buClr>
                <a:schemeClr val="dk1"/>
              </a:buClr>
              <a:buSzPts val="2400"/>
              <a:buFont typeface="Lato"/>
              <a:buChar char="■"/>
              <a:defRPr sz="2400">
                <a:solidFill>
                  <a:schemeClr val="dk1"/>
                </a:solidFill>
                <a:latin typeface="Lato"/>
                <a:ea typeface="Lato"/>
                <a:cs typeface="Lato"/>
                <a:sym typeface="Lato"/>
              </a:defRPr>
            </a:lvl9pPr>
          </a:lstStyle>
          <a:p>
            <a:endParaRPr/>
          </a:p>
        </p:txBody>
      </p:sp>
      <p:sp>
        <p:nvSpPr>
          <p:cNvPr id="8" name="Google Shape;8;p1"/>
          <p:cNvSpPr txBox="1">
            <a:spLocks noGrp="1"/>
          </p:cNvSpPr>
          <p:nvPr>
            <p:ph type="sldNum" idx="12"/>
          </p:nvPr>
        </p:nvSpPr>
        <p:spPr>
          <a:xfrm>
            <a:off x="8480575" y="4696933"/>
            <a:ext cx="548700" cy="313500"/>
          </a:xfrm>
          <a:prstGeom prst="rect">
            <a:avLst/>
          </a:prstGeom>
          <a:noFill/>
          <a:ln>
            <a:noFill/>
          </a:ln>
        </p:spPr>
        <p:txBody>
          <a:bodyPr spcFirstLastPara="1" wrap="square" lIns="91425" tIns="91425" rIns="91425" bIns="91425" anchor="t" anchorCtr="0">
            <a:noAutofit/>
          </a:bodyPr>
          <a:lstStyle>
            <a:lvl1pPr lvl="0" algn="r">
              <a:buNone/>
              <a:defRPr sz="1300">
                <a:solidFill>
                  <a:schemeClr val="accent6"/>
                </a:solidFill>
                <a:latin typeface="Lato"/>
                <a:ea typeface="Lato"/>
                <a:cs typeface="Lato"/>
                <a:sym typeface="Lato"/>
              </a:defRPr>
            </a:lvl1pPr>
            <a:lvl2pPr lvl="1" algn="r">
              <a:buNone/>
              <a:defRPr sz="1300">
                <a:solidFill>
                  <a:schemeClr val="accent6"/>
                </a:solidFill>
                <a:latin typeface="Lato"/>
                <a:ea typeface="Lato"/>
                <a:cs typeface="Lato"/>
                <a:sym typeface="Lato"/>
              </a:defRPr>
            </a:lvl2pPr>
            <a:lvl3pPr lvl="2" algn="r">
              <a:buNone/>
              <a:defRPr sz="1300">
                <a:solidFill>
                  <a:schemeClr val="accent6"/>
                </a:solidFill>
                <a:latin typeface="Lato"/>
                <a:ea typeface="Lato"/>
                <a:cs typeface="Lato"/>
                <a:sym typeface="Lato"/>
              </a:defRPr>
            </a:lvl3pPr>
            <a:lvl4pPr lvl="3" algn="r">
              <a:buNone/>
              <a:defRPr sz="1300">
                <a:solidFill>
                  <a:schemeClr val="accent6"/>
                </a:solidFill>
                <a:latin typeface="Lato"/>
                <a:ea typeface="Lato"/>
                <a:cs typeface="Lato"/>
                <a:sym typeface="Lato"/>
              </a:defRPr>
            </a:lvl4pPr>
            <a:lvl5pPr lvl="4" algn="r">
              <a:buNone/>
              <a:defRPr sz="1300">
                <a:solidFill>
                  <a:schemeClr val="accent6"/>
                </a:solidFill>
                <a:latin typeface="Lato"/>
                <a:ea typeface="Lato"/>
                <a:cs typeface="Lato"/>
                <a:sym typeface="Lato"/>
              </a:defRPr>
            </a:lvl5pPr>
            <a:lvl6pPr lvl="5" algn="r">
              <a:buNone/>
              <a:defRPr sz="1300">
                <a:solidFill>
                  <a:schemeClr val="accent6"/>
                </a:solidFill>
                <a:latin typeface="Lato"/>
                <a:ea typeface="Lato"/>
                <a:cs typeface="Lato"/>
                <a:sym typeface="Lato"/>
              </a:defRPr>
            </a:lvl6pPr>
            <a:lvl7pPr lvl="6" algn="r">
              <a:buNone/>
              <a:defRPr sz="1300">
                <a:solidFill>
                  <a:schemeClr val="accent6"/>
                </a:solidFill>
                <a:latin typeface="Lato"/>
                <a:ea typeface="Lato"/>
                <a:cs typeface="Lato"/>
                <a:sym typeface="Lato"/>
              </a:defRPr>
            </a:lvl7pPr>
            <a:lvl8pPr lvl="7" algn="r">
              <a:buNone/>
              <a:defRPr sz="1300">
                <a:solidFill>
                  <a:schemeClr val="accent6"/>
                </a:solidFill>
                <a:latin typeface="Lato"/>
                <a:ea typeface="Lato"/>
                <a:cs typeface="Lato"/>
                <a:sym typeface="Lato"/>
              </a:defRPr>
            </a:lvl8pPr>
            <a:lvl9pPr lvl="8" algn="r">
              <a:buNone/>
              <a:defRPr sz="1300">
                <a:solidFill>
                  <a:schemeClr val="accent6"/>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6" r:id="rId5"/>
    <p:sldLayoutId id="2147483657" r:id="rId6"/>
  </p:sldLayoutIdLst>
  <p:transition>
    <p:fade thruBlk="1"/>
  </p:transition>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C066C08-4B63-4E63-9C1C-160C78A82633}"/>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 smtClean="0"/>
              <a:t>1</a:t>
            </a:fld>
            <a:endParaRPr lang="en"/>
          </a:p>
        </p:txBody>
      </p:sp>
      <p:sp>
        <p:nvSpPr>
          <p:cNvPr id="5" name="TextBox 4">
            <a:extLst>
              <a:ext uri="{FF2B5EF4-FFF2-40B4-BE49-F238E27FC236}">
                <a16:creationId xmlns:a16="http://schemas.microsoft.com/office/drawing/2014/main" id="{1D9AF8DC-4AD5-4BA9-B746-EE4F244D4AAF}"/>
              </a:ext>
            </a:extLst>
          </p:cNvPr>
          <p:cNvSpPr txBox="1"/>
          <p:nvPr/>
        </p:nvSpPr>
        <p:spPr>
          <a:xfrm>
            <a:off x="553710" y="287280"/>
            <a:ext cx="7670386" cy="2769989"/>
          </a:xfrm>
          <a:prstGeom prst="rect">
            <a:avLst/>
          </a:prstGeom>
          <a:noFill/>
        </p:spPr>
        <p:txBody>
          <a:bodyPr wrap="square" rtlCol="0">
            <a:spAutoFit/>
          </a:bodyPr>
          <a:lstStyle/>
          <a:p>
            <a:r>
              <a:rPr lang="en-IN" sz="3000" b="0" i="0" u="none" strike="noStrike" baseline="0" dirty="0">
                <a:solidFill>
                  <a:schemeClr val="bg1"/>
                </a:solidFill>
                <a:latin typeface="Raleway" panose="020B0604020202020204" charset="0"/>
              </a:rPr>
              <a:t>MACHINE </a:t>
            </a:r>
            <a:r>
              <a:rPr lang="en-IN" sz="3000" b="0" i="0" u="none" strike="noStrike" baseline="0">
                <a:solidFill>
                  <a:schemeClr val="bg1"/>
                </a:solidFill>
                <a:latin typeface="Raleway" panose="020B0604020202020204" charset="0"/>
              </a:rPr>
              <a:t>LEARNING </a:t>
            </a:r>
            <a:r>
              <a:rPr lang="en-IN" sz="3000" b="0" i="0" u="none" strike="noStrike" baseline="0" smtClean="0">
                <a:solidFill>
                  <a:schemeClr val="bg1"/>
                </a:solidFill>
                <a:latin typeface="Raleway" panose="020B0604020202020204" charset="0"/>
              </a:rPr>
              <a:t>- MINOR </a:t>
            </a:r>
            <a:r>
              <a:rPr lang="en-IN" sz="3000" b="0" i="0" u="none" strike="noStrike" baseline="0" dirty="0">
                <a:solidFill>
                  <a:schemeClr val="bg1"/>
                </a:solidFill>
                <a:latin typeface="Raleway" panose="020B0604020202020204" charset="0"/>
              </a:rPr>
              <a:t>PROJECT</a:t>
            </a:r>
          </a:p>
          <a:p>
            <a:endParaRPr lang="en-IN" sz="2800" b="0" i="0" u="none" strike="noStrike" baseline="0" dirty="0">
              <a:solidFill>
                <a:schemeClr val="bg1"/>
              </a:solidFill>
              <a:latin typeface="Raleway" panose="020B0604020202020204" charset="0"/>
            </a:endParaRPr>
          </a:p>
          <a:p>
            <a:endParaRPr lang="en-US" sz="2000" b="0" i="0" u="none" strike="noStrike" baseline="0" dirty="0">
              <a:solidFill>
                <a:schemeClr val="bg1"/>
              </a:solidFill>
              <a:latin typeface="Raleway" panose="020B0604020202020204" charset="0"/>
            </a:endParaRPr>
          </a:p>
          <a:p>
            <a:r>
              <a:rPr lang="en-US" sz="2000" b="0" i="0" u="none" strike="noStrike" baseline="0" dirty="0">
                <a:solidFill>
                  <a:schemeClr val="bg1"/>
                </a:solidFill>
                <a:latin typeface="Raleway" panose="020B0604020202020204" charset="0"/>
              </a:rPr>
              <a:t>A COMPARISON OF ARIMA AND LSTM IN TIME FORCASTING </a:t>
            </a:r>
          </a:p>
          <a:p>
            <a:r>
              <a:rPr lang="en-US" sz="2000" dirty="0">
                <a:solidFill>
                  <a:schemeClr val="bg1"/>
                </a:solidFill>
                <a:latin typeface="Raleway" panose="020B0604020202020204" charset="0"/>
              </a:rPr>
              <a:t>TIME SERIES</a:t>
            </a:r>
            <a:endParaRPr lang="en-IN" sz="2000" dirty="0">
              <a:solidFill>
                <a:schemeClr val="bg1"/>
              </a:solidFill>
              <a:latin typeface="Raleway" panose="020B0604020202020204" charset="0"/>
            </a:endParaRPr>
          </a:p>
          <a:p>
            <a:endParaRPr lang="en-IN" sz="2800" dirty="0">
              <a:solidFill>
                <a:schemeClr val="bg1"/>
              </a:solidFill>
              <a:latin typeface="Raleway" panose="020B0604020202020204" charset="0"/>
            </a:endParaRPr>
          </a:p>
          <a:p>
            <a:endParaRPr lang="en-IN" sz="2800" dirty="0">
              <a:solidFill>
                <a:schemeClr val="bg1"/>
              </a:solidFill>
              <a:latin typeface="Raleway" panose="020B0604020202020204" charset="0"/>
            </a:endParaRPr>
          </a:p>
        </p:txBody>
      </p:sp>
      <p:sp>
        <p:nvSpPr>
          <p:cNvPr id="7" name="TextBox 6">
            <a:extLst>
              <a:ext uri="{FF2B5EF4-FFF2-40B4-BE49-F238E27FC236}">
                <a16:creationId xmlns:a16="http://schemas.microsoft.com/office/drawing/2014/main" id="{92CE14C2-D86D-4470-90DC-12B35B5B406D}"/>
              </a:ext>
            </a:extLst>
          </p:cNvPr>
          <p:cNvSpPr txBox="1"/>
          <p:nvPr/>
        </p:nvSpPr>
        <p:spPr>
          <a:xfrm>
            <a:off x="603328" y="2351787"/>
            <a:ext cx="1620508" cy="1384995"/>
          </a:xfrm>
          <a:prstGeom prst="rect">
            <a:avLst/>
          </a:prstGeom>
          <a:noFill/>
        </p:spPr>
        <p:txBody>
          <a:bodyPr wrap="square" rtlCol="0">
            <a:spAutoFit/>
          </a:bodyPr>
          <a:lstStyle/>
          <a:p>
            <a:pPr algn="l"/>
            <a:r>
              <a:rPr lang="en-IN" sz="1200" b="0" i="0" u="none" strike="noStrike" baseline="0" dirty="0">
                <a:solidFill>
                  <a:schemeClr val="bg1"/>
                </a:solidFill>
                <a:latin typeface="Raleway" panose="020B0604020202020204" charset="0"/>
              </a:rPr>
              <a:t>Sima Siami-Namini</a:t>
            </a:r>
          </a:p>
          <a:p>
            <a:pPr algn="l"/>
            <a:r>
              <a:rPr lang="en-IN" sz="1200" b="0" i="0" u="none" strike="noStrike" baseline="0" dirty="0">
                <a:solidFill>
                  <a:schemeClr val="bg1"/>
                </a:solidFill>
                <a:latin typeface="Raleway" panose="020B0604020202020204" charset="0"/>
              </a:rPr>
              <a:t>Department of Applied Economics</a:t>
            </a:r>
          </a:p>
          <a:p>
            <a:pPr algn="l"/>
            <a:r>
              <a:rPr lang="en-IN" sz="1200" b="0" i="0" u="none" strike="noStrike" baseline="0" dirty="0">
                <a:solidFill>
                  <a:schemeClr val="bg1"/>
                </a:solidFill>
                <a:latin typeface="Raleway" panose="020B0604020202020204" charset="0"/>
              </a:rPr>
              <a:t>Texas Tech University</a:t>
            </a:r>
          </a:p>
          <a:p>
            <a:pPr algn="l"/>
            <a:r>
              <a:rPr lang="fr-FR" sz="1200" b="0" i="0" u="none" strike="noStrike" baseline="0" dirty="0">
                <a:solidFill>
                  <a:schemeClr val="bg1"/>
                </a:solidFill>
                <a:latin typeface="Raleway" panose="020B0604020202020204" charset="0"/>
              </a:rPr>
              <a:t>Email: sima.siami-namini@ttu.edu</a:t>
            </a:r>
            <a:endParaRPr lang="en-IN" sz="1200" dirty="0">
              <a:solidFill>
                <a:schemeClr val="bg1"/>
              </a:solidFill>
              <a:latin typeface="Raleway" panose="020B0604020202020204" charset="0"/>
            </a:endParaRPr>
          </a:p>
        </p:txBody>
      </p:sp>
      <p:sp>
        <p:nvSpPr>
          <p:cNvPr id="8" name="TextBox 7">
            <a:extLst>
              <a:ext uri="{FF2B5EF4-FFF2-40B4-BE49-F238E27FC236}">
                <a16:creationId xmlns:a16="http://schemas.microsoft.com/office/drawing/2014/main" id="{118A766D-138F-4AF3-BF75-EAD6EB356B3A}"/>
              </a:ext>
            </a:extLst>
          </p:cNvPr>
          <p:cNvSpPr txBox="1"/>
          <p:nvPr/>
        </p:nvSpPr>
        <p:spPr>
          <a:xfrm>
            <a:off x="3098840" y="2328969"/>
            <a:ext cx="2176131" cy="1384995"/>
          </a:xfrm>
          <a:prstGeom prst="rect">
            <a:avLst/>
          </a:prstGeom>
          <a:noFill/>
        </p:spPr>
        <p:txBody>
          <a:bodyPr wrap="square" rtlCol="0">
            <a:spAutoFit/>
          </a:bodyPr>
          <a:lstStyle/>
          <a:p>
            <a:pPr algn="l"/>
            <a:r>
              <a:rPr lang="en-IN" sz="1200" b="0" i="0" u="none" strike="noStrike" baseline="0" dirty="0">
                <a:solidFill>
                  <a:schemeClr val="bg1"/>
                </a:solidFill>
                <a:latin typeface="Raleway" panose="020B0604020202020204" charset="0"/>
              </a:rPr>
              <a:t>Neda Tavakoli</a:t>
            </a:r>
          </a:p>
          <a:p>
            <a:pPr algn="l"/>
            <a:r>
              <a:rPr lang="en-IN" sz="1200" b="0" i="0" u="none" strike="noStrike" baseline="0" dirty="0">
                <a:solidFill>
                  <a:schemeClr val="bg1"/>
                </a:solidFill>
                <a:latin typeface="Raleway" panose="020B0604020202020204" charset="0"/>
              </a:rPr>
              <a:t>Department of Computer Science</a:t>
            </a:r>
          </a:p>
          <a:p>
            <a:pPr algn="l"/>
            <a:r>
              <a:rPr lang="en-IN" sz="1200" b="0" i="0" u="none" strike="noStrike" baseline="0" dirty="0">
                <a:solidFill>
                  <a:schemeClr val="bg1"/>
                </a:solidFill>
                <a:latin typeface="Raleway" panose="020B0604020202020204" charset="0"/>
              </a:rPr>
              <a:t>Georgia Institute of Technology</a:t>
            </a:r>
          </a:p>
          <a:p>
            <a:pPr algn="l"/>
            <a:r>
              <a:rPr lang="fr-FR" sz="1200" b="0" i="0" u="none" strike="noStrike" baseline="0" dirty="0">
                <a:solidFill>
                  <a:schemeClr val="bg1"/>
                </a:solidFill>
                <a:latin typeface="Raleway" panose="020B0604020202020204" charset="0"/>
              </a:rPr>
              <a:t>Email: neda.tavakoli@gatech.edu</a:t>
            </a:r>
            <a:endParaRPr lang="en-IN" sz="1200" dirty="0">
              <a:solidFill>
                <a:schemeClr val="bg1"/>
              </a:solidFill>
              <a:latin typeface="Raleway" panose="020B0604020202020204" charset="0"/>
            </a:endParaRPr>
          </a:p>
        </p:txBody>
      </p:sp>
      <p:sp>
        <p:nvSpPr>
          <p:cNvPr id="10" name="TextBox 9">
            <a:extLst>
              <a:ext uri="{FF2B5EF4-FFF2-40B4-BE49-F238E27FC236}">
                <a16:creationId xmlns:a16="http://schemas.microsoft.com/office/drawing/2014/main" id="{7F8F7D75-F2B4-4D08-9F45-54F208AB93EE}"/>
              </a:ext>
            </a:extLst>
          </p:cNvPr>
          <p:cNvSpPr txBox="1"/>
          <p:nvPr/>
        </p:nvSpPr>
        <p:spPr>
          <a:xfrm>
            <a:off x="5981440" y="2351787"/>
            <a:ext cx="2242655" cy="1015663"/>
          </a:xfrm>
          <a:prstGeom prst="rect">
            <a:avLst/>
          </a:prstGeom>
          <a:noFill/>
        </p:spPr>
        <p:txBody>
          <a:bodyPr wrap="square" rtlCol="0">
            <a:spAutoFit/>
          </a:bodyPr>
          <a:lstStyle/>
          <a:p>
            <a:pPr algn="l"/>
            <a:r>
              <a:rPr lang="en-IN" sz="1200" b="0" i="0" u="none" strike="noStrike" baseline="0" dirty="0">
                <a:solidFill>
                  <a:schemeClr val="bg1"/>
                </a:solidFill>
                <a:latin typeface="Raleway" panose="020B0604020202020204" charset="0"/>
              </a:rPr>
              <a:t>Akbar Siami Namin</a:t>
            </a:r>
          </a:p>
          <a:p>
            <a:pPr algn="l"/>
            <a:r>
              <a:rPr lang="en-IN" sz="1200" b="0" i="0" u="none" strike="noStrike" baseline="0" dirty="0">
                <a:solidFill>
                  <a:schemeClr val="bg1"/>
                </a:solidFill>
                <a:latin typeface="Raleway" panose="020B0604020202020204" charset="0"/>
              </a:rPr>
              <a:t>Department of Computer Science</a:t>
            </a:r>
          </a:p>
          <a:p>
            <a:pPr algn="l"/>
            <a:r>
              <a:rPr lang="en-IN" sz="1200" b="0" i="0" u="none" strike="noStrike" baseline="0" dirty="0">
                <a:solidFill>
                  <a:schemeClr val="bg1"/>
                </a:solidFill>
                <a:latin typeface="Raleway" panose="020B0604020202020204" charset="0"/>
              </a:rPr>
              <a:t>Texas Tech University</a:t>
            </a:r>
          </a:p>
          <a:p>
            <a:pPr algn="l"/>
            <a:r>
              <a:rPr lang="fr-FR" sz="1200" b="0" i="0" u="none" strike="noStrike" baseline="0" dirty="0">
                <a:solidFill>
                  <a:schemeClr val="bg1"/>
                </a:solidFill>
                <a:latin typeface="Raleway" panose="020B0604020202020204" charset="0"/>
              </a:rPr>
              <a:t>Email: akbar.namin@ttu.edu</a:t>
            </a:r>
            <a:endParaRPr lang="en-IN" sz="1200" dirty="0">
              <a:solidFill>
                <a:schemeClr val="bg1"/>
              </a:solidFill>
              <a:latin typeface="Raleway" panose="020B0604020202020204" charset="0"/>
            </a:endParaRPr>
          </a:p>
        </p:txBody>
      </p:sp>
      <p:sp>
        <p:nvSpPr>
          <p:cNvPr id="11" name="TextBox 10">
            <a:extLst>
              <a:ext uri="{FF2B5EF4-FFF2-40B4-BE49-F238E27FC236}">
                <a16:creationId xmlns:a16="http://schemas.microsoft.com/office/drawing/2014/main" id="{7BD5E9CF-7D9C-476D-BC3A-CD9B3986D9EF}"/>
              </a:ext>
            </a:extLst>
          </p:cNvPr>
          <p:cNvSpPr txBox="1"/>
          <p:nvPr/>
        </p:nvSpPr>
        <p:spPr>
          <a:xfrm>
            <a:off x="553710" y="4162819"/>
            <a:ext cx="7620767" cy="738664"/>
          </a:xfrm>
          <a:prstGeom prst="rect">
            <a:avLst/>
          </a:prstGeom>
          <a:noFill/>
        </p:spPr>
        <p:txBody>
          <a:bodyPr wrap="square" rtlCol="0">
            <a:spAutoFit/>
          </a:bodyPr>
          <a:lstStyle/>
          <a:p>
            <a:r>
              <a:rPr lang="en-US" sz="1400" dirty="0" smtClean="0">
                <a:solidFill>
                  <a:srgbClr val="0070C0"/>
                </a:solidFill>
              </a:rPr>
              <a:t> Shashank Sinha</a:t>
            </a:r>
          </a:p>
          <a:p>
            <a:r>
              <a:rPr lang="en-US" dirty="0" smtClean="0">
                <a:solidFill>
                  <a:srgbClr val="0070C0"/>
                </a:solidFill>
              </a:rPr>
              <a:t> Roll no. - 1810002</a:t>
            </a:r>
            <a:r>
              <a:rPr lang="en-US" sz="2000" dirty="0"/>
              <a:t/>
            </a:r>
            <a:br>
              <a:rPr lang="en-US" sz="2000" dirty="0"/>
            </a:br>
            <a:endParaRPr lang="en-IN" dirty="0"/>
          </a:p>
        </p:txBody>
      </p:sp>
    </p:spTree>
    <p:extLst>
      <p:ext uri="{BB962C8B-B14F-4D97-AF65-F5344CB8AC3E}">
        <p14:creationId xmlns:p14="http://schemas.microsoft.com/office/powerpoint/2010/main" val="132231342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05465E7-D66E-4E34-AE97-D4801D6B799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2</a:t>
            </a:fld>
            <a:endParaRPr lang="en"/>
          </a:p>
        </p:txBody>
      </p:sp>
      <p:sp>
        <p:nvSpPr>
          <p:cNvPr id="3" name="TextBox 2">
            <a:extLst>
              <a:ext uri="{FF2B5EF4-FFF2-40B4-BE49-F238E27FC236}">
                <a16:creationId xmlns:a16="http://schemas.microsoft.com/office/drawing/2014/main" id="{A33E10DC-6668-4E3A-ACCE-92CADF4FD3AD}"/>
              </a:ext>
            </a:extLst>
          </p:cNvPr>
          <p:cNvSpPr txBox="1"/>
          <p:nvPr/>
        </p:nvSpPr>
        <p:spPr>
          <a:xfrm>
            <a:off x="687572" y="354420"/>
            <a:ext cx="7258493" cy="523220"/>
          </a:xfrm>
          <a:prstGeom prst="rect">
            <a:avLst/>
          </a:prstGeom>
          <a:noFill/>
        </p:spPr>
        <p:txBody>
          <a:bodyPr wrap="square" rtlCol="0">
            <a:spAutoFit/>
          </a:bodyPr>
          <a:lstStyle/>
          <a:p>
            <a:r>
              <a:rPr lang="en-US" sz="2800" dirty="0">
                <a:solidFill>
                  <a:schemeClr val="bg1"/>
                </a:solidFill>
              </a:rPr>
              <a:t>DATA COLLECTION </a:t>
            </a:r>
            <a:endParaRPr lang="en-IN" sz="2800" dirty="0">
              <a:solidFill>
                <a:schemeClr val="bg1"/>
              </a:solidFill>
            </a:endParaRPr>
          </a:p>
        </p:txBody>
      </p:sp>
      <p:sp>
        <p:nvSpPr>
          <p:cNvPr id="4" name="TextBox 3">
            <a:extLst>
              <a:ext uri="{FF2B5EF4-FFF2-40B4-BE49-F238E27FC236}">
                <a16:creationId xmlns:a16="http://schemas.microsoft.com/office/drawing/2014/main" id="{0F4E4B14-3F1E-4C75-AC84-C93A2823DAB9}"/>
              </a:ext>
            </a:extLst>
          </p:cNvPr>
          <p:cNvSpPr txBox="1"/>
          <p:nvPr/>
        </p:nvSpPr>
        <p:spPr>
          <a:xfrm>
            <a:off x="698867" y="1000751"/>
            <a:ext cx="7790120" cy="646331"/>
          </a:xfrm>
          <a:prstGeom prst="rect">
            <a:avLst/>
          </a:prstGeom>
          <a:noFill/>
        </p:spPr>
        <p:txBody>
          <a:bodyPr wrap="square" rtlCol="0">
            <a:spAutoFit/>
          </a:bodyPr>
          <a:lstStyle/>
          <a:p>
            <a:r>
              <a:rPr lang="en-US" sz="1800" b="0" i="0" u="none" strike="noStrike" baseline="0" dirty="0">
                <a:solidFill>
                  <a:schemeClr val="bg1"/>
                </a:solidFill>
                <a:latin typeface="Raleway" panose="020B0604020202020204" charset="0"/>
              </a:rPr>
              <a:t>For this project </a:t>
            </a:r>
            <a:r>
              <a:rPr lang="en-US" sz="1800" dirty="0">
                <a:solidFill>
                  <a:schemeClr val="bg1"/>
                </a:solidFill>
                <a:latin typeface="Raleway" panose="020B0604020202020204" charset="0"/>
              </a:rPr>
              <a:t>I</a:t>
            </a:r>
            <a:r>
              <a:rPr lang="en-US" sz="1800" b="0" i="0" u="none" strike="noStrike" baseline="0" dirty="0" smtClean="0">
                <a:solidFill>
                  <a:schemeClr val="bg1"/>
                </a:solidFill>
                <a:latin typeface="Raleway" panose="020B0604020202020204" charset="0"/>
              </a:rPr>
              <a:t> </a:t>
            </a:r>
            <a:r>
              <a:rPr lang="en-US" sz="1800" b="0" i="0" u="none" strike="noStrike" baseline="0" dirty="0">
                <a:solidFill>
                  <a:schemeClr val="bg1"/>
                </a:solidFill>
                <a:latin typeface="Raleway" panose="020B0604020202020204" charset="0"/>
              </a:rPr>
              <a:t>have used seven datasets which are following :</a:t>
            </a:r>
            <a:endParaRPr lang="en-US" sz="1200" b="0" i="0" u="none" strike="noStrike" baseline="0" dirty="0">
              <a:solidFill>
                <a:schemeClr val="bg1"/>
              </a:solidFill>
              <a:latin typeface="Raleway" panose="020B0604020202020204" charset="0"/>
            </a:endParaRPr>
          </a:p>
          <a:p>
            <a:endParaRPr lang="en-US" sz="1800" dirty="0">
              <a:solidFill>
                <a:schemeClr val="bg1"/>
              </a:solidFill>
              <a:latin typeface="Raleway" panose="020B0604020202020204" charset="0"/>
            </a:endParaRPr>
          </a:p>
        </p:txBody>
      </p:sp>
      <p:sp>
        <p:nvSpPr>
          <p:cNvPr id="5" name="TextBox 4">
            <a:extLst>
              <a:ext uri="{FF2B5EF4-FFF2-40B4-BE49-F238E27FC236}">
                <a16:creationId xmlns:a16="http://schemas.microsoft.com/office/drawing/2014/main" id="{648BDFB3-13FF-411C-A1D0-16257441D0D1}"/>
              </a:ext>
            </a:extLst>
          </p:cNvPr>
          <p:cNvSpPr txBox="1"/>
          <p:nvPr/>
        </p:nvSpPr>
        <p:spPr>
          <a:xfrm>
            <a:off x="698867" y="1400860"/>
            <a:ext cx="6939516" cy="1815882"/>
          </a:xfrm>
          <a:prstGeom prst="rect">
            <a:avLst/>
          </a:prstGeom>
          <a:noFill/>
        </p:spPr>
        <p:txBody>
          <a:bodyPr wrap="square" rtlCol="0">
            <a:spAutoFit/>
          </a:bodyPr>
          <a:lstStyle/>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S&amp;P 500 historical data  </a:t>
            </a:r>
            <a:r>
              <a:rPr lang="en-IN" sz="1400" b="0" i="0" dirty="0">
                <a:solidFill>
                  <a:schemeClr val="bg1"/>
                </a:solidFill>
                <a:effectLst/>
                <a:latin typeface="Arial" panose="020B0604020202020204" pitchFamily="34" charset="0"/>
                <a:cs typeface="Arial" panose="020B0604020202020204" pitchFamily="34" charset="0"/>
              </a:rPr>
              <a:t>(1733 * 6)</a:t>
            </a:r>
          </a:p>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"LeBron James" Google Trends  </a:t>
            </a:r>
            <a:r>
              <a:rPr lang="en-IN" sz="1400" b="0" i="0" dirty="0">
                <a:solidFill>
                  <a:schemeClr val="bg1"/>
                </a:solidFill>
                <a:effectLst/>
                <a:latin typeface="Arial" panose="020B0604020202020204" pitchFamily="34" charset="0"/>
                <a:cs typeface="Arial" panose="020B0604020202020204" pitchFamily="34" charset="0"/>
              </a:rPr>
              <a:t>(170 * 2)</a:t>
            </a:r>
          </a:p>
          <a:p>
            <a:pPr marL="285750" indent="-285750" algn="l">
              <a:buFont typeface="Wingdings" panose="05000000000000000000" pitchFamily="2" charset="2"/>
              <a:buChar char="Ø"/>
            </a:pPr>
            <a:r>
              <a:rPr lang="en-IN" sz="1400" b="0" i="0" dirty="0">
                <a:solidFill>
                  <a:schemeClr val="bg1"/>
                </a:solidFill>
                <a:effectLst/>
                <a:latin typeface="Raleway" panose="020B0604020202020204" charset="0"/>
              </a:rPr>
              <a:t>"Coldbrew" Google Trends  </a:t>
            </a:r>
            <a:r>
              <a:rPr lang="en-IN" sz="1400" b="0" i="0" dirty="0">
                <a:solidFill>
                  <a:schemeClr val="bg1"/>
                </a:solidFill>
                <a:effectLst/>
                <a:latin typeface="Arial" panose="020B0604020202020204" pitchFamily="34" charset="0"/>
                <a:cs typeface="Arial" panose="020B0604020202020204" pitchFamily="34" charset="0"/>
              </a:rPr>
              <a:t>(170 * 2)</a:t>
            </a: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"Kentucky Derby"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"Gilmore Girls"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"Olympics"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pPr marL="285750" indent="-285750">
              <a:buFont typeface="Wingdings" panose="05000000000000000000" pitchFamily="2" charset="2"/>
              <a:buChar char="Ø"/>
            </a:pPr>
            <a:r>
              <a:rPr lang="en-IN" sz="1400" b="0" i="0" dirty="0">
                <a:solidFill>
                  <a:schemeClr val="bg1"/>
                </a:solidFill>
                <a:effectLst/>
                <a:latin typeface="Raleway" panose="020B0604020202020204" charset="0"/>
              </a:rPr>
              <a:t>"Zika Virus" Google Trends  </a:t>
            </a:r>
            <a:r>
              <a:rPr lang="en-IN" sz="1400" b="0" i="0" dirty="0">
                <a:solidFill>
                  <a:schemeClr val="bg1"/>
                </a:solidFill>
                <a:effectLst/>
                <a:latin typeface="Arial" panose="020B0604020202020204" pitchFamily="34" charset="0"/>
                <a:cs typeface="Arial" panose="020B0604020202020204" pitchFamily="34" charset="0"/>
              </a:rPr>
              <a:t>(170 * 2)</a:t>
            </a:r>
            <a:endParaRPr lang="en-IN" sz="1400" b="0" i="0" dirty="0">
              <a:solidFill>
                <a:schemeClr val="bg1"/>
              </a:solidFill>
              <a:effectLst/>
              <a:latin typeface="Raleway" panose="020B0604020202020204" charset="0"/>
            </a:endParaRPr>
          </a:p>
          <a:p>
            <a:endParaRPr lang="en-IN" dirty="0"/>
          </a:p>
        </p:txBody>
      </p:sp>
      <p:sp>
        <p:nvSpPr>
          <p:cNvPr id="6" name="TextBox 5">
            <a:extLst>
              <a:ext uri="{FF2B5EF4-FFF2-40B4-BE49-F238E27FC236}">
                <a16:creationId xmlns:a16="http://schemas.microsoft.com/office/drawing/2014/main" id="{FA332E86-E9A2-4085-8B4A-AA93DFCD6BC5}"/>
              </a:ext>
            </a:extLst>
          </p:cNvPr>
          <p:cNvSpPr txBox="1"/>
          <p:nvPr/>
        </p:nvSpPr>
        <p:spPr>
          <a:xfrm>
            <a:off x="698867" y="3188642"/>
            <a:ext cx="7478233" cy="738664"/>
          </a:xfrm>
          <a:prstGeom prst="rect">
            <a:avLst/>
          </a:prstGeom>
          <a:noFill/>
        </p:spPr>
        <p:txBody>
          <a:bodyPr wrap="square" rtlCol="0">
            <a:spAutoFit/>
          </a:bodyPr>
          <a:lstStyle/>
          <a:p>
            <a:r>
              <a:rPr lang="en-IN" sz="2800" i="0" dirty="0">
                <a:solidFill>
                  <a:schemeClr val="bg1"/>
                </a:solidFill>
                <a:effectLst/>
                <a:latin typeface="Raleway" panose="020B0604020202020204" charset="0"/>
              </a:rPr>
              <a:t>TECHNIQUES USED </a:t>
            </a:r>
            <a:r>
              <a:rPr lang="en-IN" sz="2000" i="0" dirty="0">
                <a:solidFill>
                  <a:schemeClr val="bg1"/>
                </a:solidFill>
                <a:effectLst/>
                <a:latin typeface="Raleway" panose="020B0604020202020204" charset="0"/>
              </a:rPr>
              <a:t>  </a:t>
            </a:r>
            <a:endParaRPr lang="en-IN" sz="2800" i="0" dirty="0">
              <a:solidFill>
                <a:schemeClr val="bg1"/>
              </a:solidFill>
              <a:effectLst/>
              <a:latin typeface="Raleway" panose="020B0604020202020204" charset="0"/>
            </a:endParaRPr>
          </a:p>
          <a:p>
            <a:endParaRPr lang="en-IN" dirty="0"/>
          </a:p>
        </p:txBody>
      </p:sp>
      <p:sp>
        <p:nvSpPr>
          <p:cNvPr id="8" name="TextBox 7">
            <a:extLst>
              <a:ext uri="{FF2B5EF4-FFF2-40B4-BE49-F238E27FC236}">
                <a16:creationId xmlns:a16="http://schemas.microsoft.com/office/drawing/2014/main" id="{60CD9826-13A5-45B0-B36C-A8957A6DC3D2}"/>
              </a:ext>
            </a:extLst>
          </p:cNvPr>
          <p:cNvSpPr txBox="1"/>
          <p:nvPr/>
        </p:nvSpPr>
        <p:spPr>
          <a:xfrm>
            <a:off x="698867" y="3711861"/>
            <a:ext cx="7544910" cy="954107"/>
          </a:xfrm>
          <a:prstGeom prst="rect">
            <a:avLst/>
          </a:prstGeom>
          <a:noFill/>
        </p:spPr>
        <p:txBody>
          <a:bodyPr wrap="square" rtlCol="0">
            <a:spAutoFit/>
          </a:bodyPr>
          <a:lstStyle/>
          <a:p>
            <a:pPr marL="285750" indent="-285750" algn="l">
              <a:buFont typeface="Wingdings" panose="05000000000000000000" pitchFamily="2" charset="2"/>
              <a:buChar char="Ø"/>
            </a:pPr>
            <a:r>
              <a:rPr lang="en-US" sz="1400" b="0" i="0" dirty="0">
                <a:solidFill>
                  <a:schemeClr val="bg1"/>
                </a:solidFill>
                <a:effectLst/>
                <a:latin typeface="Helvetica Neue"/>
              </a:rPr>
              <a:t>time series analysis and forecasting</a:t>
            </a:r>
          </a:p>
          <a:p>
            <a:pPr marL="285750" indent="-285750" algn="l">
              <a:buFont typeface="Wingdings" panose="05000000000000000000" pitchFamily="2" charset="2"/>
              <a:buChar char="Ø"/>
            </a:pPr>
            <a:r>
              <a:rPr lang="en-US" sz="1400" b="0" i="0" dirty="0">
                <a:solidFill>
                  <a:schemeClr val="bg1"/>
                </a:solidFill>
                <a:effectLst/>
                <a:latin typeface="Helvetica Neue"/>
              </a:rPr>
              <a:t>pandas and numpy for datetime, data preparation</a:t>
            </a:r>
          </a:p>
          <a:p>
            <a:pPr marL="285750" indent="-285750" algn="l">
              <a:buFont typeface="Wingdings" panose="05000000000000000000" pitchFamily="2" charset="2"/>
              <a:buChar char="Ø"/>
            </a:pPr>
            <a:r>
              <a:rPr lang="en-US" sz="1400" b="0" i="0" dirty="0">
                <a:solidFill>
                  <a:schemeClr val="bg1"/>
                </a:solidFill>
                <a:effectLst/>
                <a:latin typeface="Helvetica Neue"/>
              </a:rPr>
              <a:t>statsmodel and keras for ARIMA and LSTM </a:t>
            </a:r>
            <a:r>
              <a:rPr lang="en-US" sz="1400" b="0" i="0" dirty="0" smtClean="0">
                <a:solidFill>
                  <a:schemeClr val="bg1"/>
                </a:solidFill>
                <a:effectLst/>
                <a:latin typeface="Helvetica Neue"/>
              </a:rPr>
              <a:t>modeling</a:t>
            </a:r>
          </a:p>
          <a:p>
            <a:pPr marL="285750" indent="-285750" algn="l">
              <a:buFont typeface="Wingdings" panose="05000000000000000000" pitchFamily="2" charset="2"/>
              <a:buChar char="Ø"/>
            </a:pPr>
            <a:r>
              <a:rPr lang="en-US" dirty="0" err="1">
                <a:solidFill>
                  <a:schemeClr val="bg1"/>
                </a:solidFill>
                <a:latin typeface="Helvetica Neue"/>
              </a:rPr>
              <a:t>s</a:t>
            </a:r>
            <a:r>
              <a:rPr lang="en-US" dirty="0" err="1" smtClean="0">
                <a:solidFill>
                  <a:schemeClr val="bg1"/>
                </a:solidFill>
                <a:latin typeface="Helvetica Neue"/>
              </a:rPr>
              <a:t>klearn</a:t>
            </a:r>
            <a:r>
              <a:rPr lang="en-US" dirty="0" smtClean="0">
                <a:solidFill>
                  <a:schemeClr val="bg1"/>
                </a:solidFill>
                <a:latin typeface="Helvetica Neue"/>
              </a:rPr>
              <a:t> for metrics &amp; scaling, and </a:t>
            </a:r>
            <a:r>
              <a:rPr lang="en-US" dirty="0" err="1" smtClean="0">
                <a:solidFill>
                  <a:schemeClr val="bg1"/>
                </a:solidFill>
                <a:latin typeface="Helvetica Neue"/>
              </a:rPr>
              <a:t>matplotlib</a:t>
            </a:r>
            <a:r>
              <a:rPr lang="en-US" dirty="0" smtClean="0">
                <a:solidFill>
                  <a:schemeClr val="bg1"/>
                </a:solidFill>
                <a:latin typeface="Helvetica Neue"/>
              </a:rPr>
              <a:t> for plots</a:t>
            </a:r>
            <a:endParaRPr lang="en-US" sz="1400" b="0" i="0" dirty="0">
              <a:solidFill>
                <a:schemeClr val="bg1"/>
              </a:solidFill>
              <a:effectLst/>
              <a:latin typeface="Helvetica Neue"/>
            </a:endParaRPr>
          </a:p>
        </p:txBody>
      </p:sp>
    </p:spTree>
    <p:extLst>
      <p:ext uri="{BB962C8B-B14F-4D97-AF65-F5344CB8AC3E}">
        <p14:creationId xmlns:p14="http://schemas.microsoft.com/office/powerpoint/2010/main" val="3798561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78DCE0-8A2E-4346-BDC8-34B5EF488DC2}"/>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3</a:t>
            </a:fld>
            <a:endParaRPr lang="en"/>
          </a:p>
        </p:txBody>
      </p:sp>
      <p:pic>
        <p:nvPicPr>
          <p:cNvPr id="6" name="Picture 5">
            <a:extLst>
              <a:ext uri="{FF2B5EF4-FFF2-40B4-BE49-F238E27FC236}">
                <a16:creationId xmlns:a16="http://schemas.microsoft.com/office/drawing/2014/main" id="{6B81B020-D3F9-4001-A039-B4A67B7A5624}"/>
              </a:ext>
            </a:extLst>
          </p:cNvPr>
          <p:cNvPicPr>
            <a:picLocks noChangeAspect="1"/>
          </p:cNvPicPr>
          <p:nvPr/>
        </p:nvPicPr>
        <p:blipFill>
          <a:blip r:embed="rId2"/>
          <a:stretch>
            <a:fillRect/>
          </a:stretch>
        </p:blipFill>
        <p:spPr>
          <a:xfrm>
            <a:off x="531628" y="714116"/>
            <a:ext cx="5677692" cy="3715268"/>
          </a:xfrm>
          <a:prstGeom prst="rect">
            <a:avLst/>
          </a:prstGeom>
        </p:spPr>
      </p:pic>
      <p:sp>
        <p:nvSpPr>
          <p:cNvPr id="7" name="TextBox 6">
            <a:extLst>
              <a:ext uri="{FF2B5EF4-FFF2-40B4-BE49-F238E27FC236}">
                <a16:creationId xmlns:a16="http://schemas.microsoft.com/office/drawing/2014/main" id="{E1222EDF-D26D-4ED0-84D8-A81664E4E2BE}"/>
              </a:ext>
            </a:extLst>
          </p:cNvPr>
          <p:cNvSpPr txBox="1"/>
          <p:nvPr/>
        </p:nvSpPr>
        <p:spPr>
          <a:xfrm>
            <a:off x="531628" y="233916"/>
            <a:ext cx="6514214" cy="523220"/>
          </a:xfrm>
          <a:prstGeom prst="rect">
            <a:avLst/>
          </a:prstGeom>
          <a:noFill/>
        </p:spPr>
        <p:txBody>
          <a:bodyPr wrap="square" rtlCol="0">
            <a:spAutoFit/>
          </a:bodyPr>
          <a:lstStyle/>
          <a:p>
            <a:r>
              <a:rPr lang="en-US" sz="2800" dirty="0">
                <a:solidFill>
                  <a:srgbClr val="0070C0"/>
                </a:solidFill>
                <a:latin typeface="Arial" panose="020B0604020202020204" pitchFamily="34" charset="0"/>
                <a:cs typeface="Arial" panose="020B0604020202020204" pitchFamily="34" charset="0"/>
              </a:rPr>
              <a:t>S&amp;P 500 DATASET</a:t>
            </a:r>
            <a:endParaRPr lang="en-IN" sz="2800" dirty="0">
              <a:solidFill>
                <a:srgbClr val="0070C0"/>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2661312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2" name="Google Shape;132;p18"/>
          <p:cNvSpPr txBox="1">
            <a:spLocks noGrp="1"/>
          </p:cNvSpPr>
          <p:nvPr>
            <p:ph type="ctrTitle" idx="4294967295"/>
          </p:nvPr>
        </p:nvSpPr>
        <p:spPr>
          <a:xfrm>
            <a:off x="700252" y="133067"/>
            <a:ext cx="8053887" cy="1159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a:solidFill>
                  <a:schemeClr val="lt1"/>
                </a:solidFill>
              </a:rPr>
              <a:t>MODELS  USED </a:t>
            </a:r>
            <a:endParaRPr sz="5400" dirty="0">
              <a:solidFill>
                <a:schemeClr val="lt1"/>
              </a:solidFill>
            </a:endParaRPr>
          </a:p>
        </p:txBody>
      </p:sp>
      <p:sp>
        <p:nvSpPr>
          <p:cNvPr id="133" name="Google Shape;133;p18"/>
          <p:cNvSpPr txBox="1">
            <a:spLocks noGrp="1"/>
          </p:cNvSpPr>
          <p:nvPr>
            <p:ph type="subTitle" idx="4294967295"/>
          </p:nvPr>
        </p:nvSpPr>
        <p:spPr>
          <a:xfrm>
            <a:off x="700252" y="1292867"/>
            <a:ext cx="6623100" cy="3333565"/>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2400" dirty="0">
                <a:solidFill>
                  <a:schemeClr val="lt1"/>
                </a:solidFill>
              </a:rPr>
              <a:t>ARIMA</a:t>
            </a:r>
          </a:p>
          <a:p>
            <a:pPr marL="0" lvl="0" indent="0" algn="l" rtl="0">
              <a:spcBef>
                <a:spcPts val="600"/>
              </a:spcBef>
              <a:spcAft>
                <a:spcPts val="0"/>
              </a:spcAft>
              <a:buNone/>
            </a:pPr>
            <a:r>
              <a:rPr lang="en-US" sz="1400" b="0" i="0" dirty="0">
                <a:solidFill>
                  <a:schemeClr val="bg1"/>
                </a:solidFill>
                <a:effectLst/>
                <a:latin typeface="SourceSansPro"/>
              </a:rPr>
              <a:t>An autoregressive integrated moving average model is a form of </a:t>
            </a:r>
            <a:r>
              <a:rPr lang="en-US" sz="1400" dirty="0">
                <a:solidFill>
                  <a:schemeClr val="bg1"/>
                </a:solidFill>
                <a:latin typeface="SourceSansPro"/>
              </a:rPr>
              <a:t>regression analysis </a:t>
            </a:r>
            <a:r>
              <a:rPr lang="en-US" sz="1400" b="0" i="0" dirty="0">
                <a:solidFill>
                  <a:schemeClr val="bg1"/>
                </a:solidFill>
                <a:effectLst/>
                <a:latin typeface="SourceSansPro"/>
              </a:rPr>
              <a:t>that gauges the strength of one dependent variable relative to other changing variables. The model's goal is to predict future </a:t>
            </a:r>
            <a:r>
              <a:rPr lang="en-US" sz="1400" b="0" i="0" dirty="0" smtClean="0">
                <a:solidFill>
                  <a:schemeClr val="bg1"/>
                </a:solidFill>
                <a:effectLst/>
                <a:latin typeface="SourceSansPro"/>
              </a:rPr>
              <a:t>values of the dataset by </a:t>
            </a:r>
            <a:r>
              <a:rPr lang="en-US" sz="1400" b="0" i="0" dirty="0">
                <a:solidFill>
                  <a:schemeClr val="bg1"/>
                </a:solidFill>
                <a:effectLst/>
                <a:latin typeface="SourceSansPro"/>
              </a:rPr>
              <a:t>examining the differences between values in the </a:t>
            </a:r>
            <a:r>
              <a:rPr lang="en-US" sz="1400" b="0" i="0" dirty="0" smtClean="0">
                <a:solidFill>
                  <a:schemeClr val="bg1"/>
                </a:solidFill>
                <a:effectLst/>
                <a:latin typeface="SourceSansPro"/>
              </a:rPr>
              <a:t>series, </a:t>
            </a:r>
            <a:r>
              <a:rPr lang="en-US" sz="1400" b="0" i="0" dirty="0">
                <a:solidFill>
                  <a:schemeClr val="bg1"/>
                </a:solidFill>
                <a:effectLst/>
                <a:latin typeface="SourceSansPro"/>
              </a:rPr>
              <a:t>instead </a:t>
            </a:r>
            <a:r>
              <a:rPr lang="en-US" sz="1400" b="0" i="0" dirty="0" smtClean="0">
                <a:solidFill>
                  <a:schemeClr val="bg1"/>
                </a:solidFill>
                <a:effectLst/>
                <a:latin typeface="SourceSansPro"/>
              </a:rPr>
              <a:t>of going </a:t>
            </a:r>
            <a:r>
              <a:rPr lang="en-US" sz="1400" b="0" i="0" dirty="0">
                <a:solidFill>
                  <a:schemeClr val="bg1"/>
                </a:solidFill>
                <a:effectLst/>
                <a:latin typeface="SourceSansPro"/>
              </a:rPr>
              <a:t>through actual values.</a:t>
            </a:r>
          </a:p>
          <a:p>
            <a:pPr marL="0" lvl="0" indent="0" algn="l" rtl="0">
              <a:spcBef>
                <a:spcPts val="600"/>
              </a:spcBef>
              <a:spcAft>
                <a:spcPts val="0"/>
              </a:spcAft>
              <a:buNone/>
            </a:pPr>
            <a:endParaRPr lang="en-US" sz="1400" dirty="0">
              <a:solidFill>
                <a:schemeClr val="bg1"/>
              </a:solidFill>
            </a:endParaRPr>
          </a:p>
          <a:p>
            <a:pPr marL="0" lvl="0" indent="0" algn="l" rtl="0">
              <a:spcBef>
                <a:spcPts val="600"/>
              </a:spcBef>
              <a:spcAft>
                <a:spcPts val="0"/>
              </a:spcAft>
              <a:buNone/>
            </a:pPr>
            <a:r>
              <a:rPr lang="en-US" dirty="0">
                <a:solidFill>
                  <a:schemeClr val="lt1"/>
                </a:solidFill>
              </a:rPr>
              <a:t>LSTM</a:t>
            </a:r>
          </a:p>
          <a:p>
            <a:pPr marL="0" lvl="0" indent="0" algn="l" rtl="0">
              <a:spcBef>
                <a:spcPts val="600"/>
              </a:spcBef>
              <a:spcAft>
                <a:spcPts val="0"/>
              </a:spcAft>
              <a:buNone/>
            </a:pPr>
            <a:r>
              <a:rPr lang="en-US" sz="1400" b="0" i="0" dirty="0">
                <a:solidFill>
                  <a:schemeClr val="bg1"/>
                </a:solidFill>
                <a:effectLst/>
                <a:latin typeface="CMS"/>
              </a:rPr>
              <a:t>Long Short Term Memory networks – usually just called “LSTMs” – are a special kind of </a:t>
            </a:r>
            <a:r>
              <a:rPr lang="en-US" sz="1400" b="0" i="0" dirty="0" smtClean="0">
                <a:solidFill>
                  <a:schemeClr val="bg1"/>
                </a:solidFill>
                <a:effectLst/>
                <a:latin typeface="CMS"/>
              </a:rPr>
              <a:t>RNN (Recurrent Neural Network), </a:t>
            </a:r>
            <a:r>
              <a:rPr lang="en-US" sz="1400" b="0" i="0" dirty="0">
                <a:solidFill>
                  <a:schemeClr val="bg1"/>
                </a:solidFill>
                <a:effectLst/>
                <a:latin typeface="CMS"/>
              </a:rPr>
              <a:t>capable of learning long-term dependencies. LSTMs are explicitly designed to avoid the long-term dependency problem. Remembering information for long periods of time is practically their default behavior.</a:t>
            </a:r>
            <a:endParaRPr sz="1400" dirty="0">
              <a:solidFill>
                <a:schemeClr val="bg1"/>
              </a:solidFill>
            </a:endParaRPr>
          </a:p>
        </p:txBody>
      </p:sp>
      <p:sp>
        <p:nvSpPr>
          <p:cNvPr id="139" name="Google Shape;139;p18"/>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9ADFE-46A4-47D2-BF6D-C067C851949D}"/>
              </a:ext>
            </a:extLst>
          </p:cNvPr>
          <p:cNvSpPr>
            <a:spLocks noGrp="1"/>
          </p:cNvSpPr>
          <p:nvPr>
            <p:ph type="title"/>
          </p:nvPr>
        </p:nvSpPr>
        <p:spPr>
          <a:xfrm>
            <a:off x="893700" y="501146"/>
            <a:ext cx="6462600" cy="857400"/>
          </a:xfrm>
        </p:spPr>
        <p:txBody>
          <a:bodyPr/>
          <a:lstStyle/>
          <a:p>
            <a:pPr algn="l"/>
            <a:r>
              <a:rPr lang="en-IN" i="0" dirty="0">
                <a:solidFill>
                  <a:schemeClr val="accent6">
                    <a:lumMod val="75000"/>
                  </a:schemeClr>
                </a:solidFill>
                <a:effectLst/>
                <a:latin typeface="Raleway" panose="020B0604020202020204" charset="0"/>
                <a:cs typeface="Arial" panose="020B0604020202020204" pitchFamily="34" charset="0"/>
              </a:rPr>
              <a:t>Autoregressive Integrated Moving Average (ARIMA)</a:t>
            </a:r>
          </a:p>
        </p:txBody>
      </p:sp>
      <p:sp>
        <p:nvSpPr>
          <p:cNvPr id="3" name="Text Placeholder 2">
            <a:extLst>
              <a:ext uri="{FF2B5EF4-FFF2-40B4-BE49-F238E27FC236}">
                <a16:creationId xmlns:a16="http://schemas.microsoft.com/office/drawing/2014/main" id="{3D2F4D5D-B743-43A6-9158-71423D6F50DD}"/>
              </a:ext>
            </a:extLst>
          </p:cNvPr>
          <p:cNvSpPr>
            <a:spLocks noGrp="1"/>
          </p:cNvSpPr>
          <p:nvPr>
            <p:ph type="body" idx="1"/>
          </p:nvPr>
        </p:nvSpPr>
        <p:spPr>
          <a:xfrm>
            <a:off x="815728" y="1208429"/>
            <a:ext cx="6462600" cy="3552300"/>
          </a:xfrm>
        </p:spPr>
        <p:txBody>
          <a:bodyPr/>
          <a:lstStyle/>
          <a:p>
            <a:endParaRPr lang="en-US" sz="1400" i="0" dirty="0">
              <a:solidFill>
                <a:schemeClr val="accent6">
                  <a:lumMod val="75000"/>
                </a:schemeClr>
              </a:solidFill>
              <a:effectLst/>
              <a:latin typeface="Helvetica Neue"/>
            </a:endParaRPr>
          </a:p>
          <a:p>
            <a:r>
              <a:rPr lang="en-US" sz="1400" i="0" dirty="0">
                <a:solidFill>
                  <a:schemeClr val="accent6">
                    <a:lumMod val="75000"/>
                  </a:schemeClr>
                </a:solidFill>
                <a:effectLst/>
                <a:latin typeface="Raleway" panose="020B0604020202020204" charset="0"/>
              </a:rPr>
              <a:t>The function below creates an ARIMA model rolling forecast for a given input time series.</a:t>
            </a:r>
            <a:r>
              <a:rPr lang="en-US" sz="1100" i="0" dirty="0">
                <a:solidFill>
                  <a:schemeClr val="accent6">
                    <a:lumMod val="75000"/>
                  </a:schemeClr>
                </a:solidFill>
                <a:effectLst/>
                <a:latin typeface="Raleway" panose="020B0604020202020204" charset="0"/>
              </a:rPr>
              <a:t> </a:t>
            </a:r>
            <a:r>
              <a:rPr lang="en-US" sz="1400" i="0" dirty="0">
                <a:solidFill>
                  <a:schemeClr val="accent6">
                    <a:lumMod val="75000"/>
                  </a:schemeClr>
                </a:solidFill>
                <a:effectLst/>
                <a:latin typeface="Raleway" panose="020B0604020202020204" charset="0"/>
              </a:rPr>
              <a:t>The various steps in the function include:</a:t>
            </a:r>
          </a:p>
          <a:p>
            <a:pPr>
              <a:buFont typeface="+mj-lt"/>
              <a:buAutoNum type="arabicPeriod"/>
            </a:pPr>
            <a:r>
              <a:rPr lang="en-IN" sz="1400" i="0" dirty="0">
                <a:solidFill>
                  <a:schemeClr val="accent6">
                    <a:lumMod val="75000"/>
                  </a:schemeClr>
                </a:solidFill>
                <a:effectLst/>
                <a:latin typeface="Raleway" panose="020B0604020202020204" charset="0"/>
              </a:rPr>
              <a:t>log transforming data</a:t>
            </a:r>
          </a:p>
          <a:p>
            <a:pPr algn="l">
              <a:buFont typeface="+mj-lt"/>
              <a:buAutoNum type="arabicPeriod"/>
            </a:pPr>
            <a:r>
              <a:rPr lang="en-US" sz="1400" i="0" dirty="0">
                <a:solidFill>
                  <a:schemeClr val="accent6">
                    <a:lumMod val="75000"/>
                  </a:schemeClr>
                </a:solidFill>
                <a:effectLst/>
                <a:latin typeface="Raleway" panose="020B0604020202020204" charset="0"/>
              </a:rPr>
              <a:t>creating train/test splits</a:t>
            </a:r>
          </a:p>
          <a:p>
            <a:pPr algn="l">
              <a:buFont typeface="+mj-lt"/>
              <a:buAutoNum type="arabicPeriod"/>
            </a:pPr>
            <a:r>
              <a:rPr lang="en-US" sz="1400" i="0" dirty="0">
                <a:solidFill>
                  <a:schemeClr val="accent6">
                    <a:lumMod val="75000"/>
                  </a:schemeClr>
                </a:solidFill>
                <a:effectLst/>
                <a:latin typeface="Raleway" panose="020B0604020202020204" charset="0"/>
              </a:rPr>
              <a:t>creating an ARIMA model for the train set</a:t>
            </a:r>
          </a:p>
          <a:p>
            <a:pPr algn="l">
              <a:buFont typeface="+mj-lt"/>
              <a:buAutoNum type="arabicPeriod"/>
            </a:pPr>
            <a:r>
              <a:rPr lang="en-US" sz="1400" i="0" dirty="0">
                <a:solidFill>
                  <a:schemeClr val="accent6">
                    <a:lumMod val="75000"/>
                  </a:schemeClr>
                </a:solidFill>
                <a:effectLst/>
                <a:latin typeface="Raleway" panose="020B0604020202020204" charset="0"/>
              </a:rPr>
              <a:t>forecasting the first value in the test set, followed by adding that value to the training set and remodeling, forecasting the next value in the test series, adding that second value to the train set, and so on.</a:t>
            </a:r>
          </a:p>
          <a:p>
            <a:pPr algn="l">
              <a:buFont typeface="+mj-lt"/>
              <a:buAutoNum type="arabicPeriod"/>
            </a:pPr>
            <a:r>
              <a:rPr lang="en-US" sz="1400" i="0" dirty="0">
                <a:solidFill>
                  <a:schemeClr val="accent6">
                    <a:lumMod val="75000"/>
                  </a:schemeClr>
                </a:solidFill>
                <a:effectLst/>
                <a:latin typeface="Raleway" panose="020B0604020202020204" charset="0"/>
              </a:rPr>
              <a:t>inverse transforming the data</a:t>
            </a:r>
          </a:p>
          <a:p>
            <a:pPr algn="l">
              <a:buFont typeface="+mj-lt"/>
              <a:buAutoNum type="arabicPeriod"/>
            </a:pPr>
            <a:r>
              <a:rPr lang="en-US" sz="1400" i="0" dirty="0">
                <a:solidFill>
                  <a:schemeClr val="accent6">
                    <a:lumMod val="75000"/>
                  </a:schemeClr>
                </a:solidFill>
                <a:effectLst/>
                <a:latin typeface="Raleway" panose="020B0604020202020204" charset="0"/>
              </a:rPr>
              <a:t>creating plots and generating error metrics.</a:t>
            </a:r>
          </a:p>
          <a:p>
            <a:pPr>
              <a:buFont typeface="+mj-lt"/>
              <a:buAutoNum type="arabicPeriod"/>
            </a:pPr>
            <a:endParaRPr lang="en-IN" sz="1400" dirty="0"/>
          </a:p>
        </p:txBody>
      </p:sp>
      <p:sp>
        <p:nvSpPr>
          <p:cNvPr id="4" name="Slide Number Placeholder 3">
            <a:extLst>
              <a:ext uri="{FF2B5EF4-FFF2-40B4-BE49-F238E27FC236}">
                <a16:creationId xmlns:a16="http://schemas.microsoft.com/office/drawing/2014/main" id="{191973CD-C263-41CF-A81D-2AFF34F830C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5</a:t>
            </a:fld>
            <a:endParaRPr lang="en"/>
          </a:p>
        </p:txBody>
      </p:sp>
    </p:spTree>
    <p:extLst>
      <p:ext uri="{BB962C8B-B14F-4D97-AF65-F5344CB8AC3E}">
        <p14:creationId xmlns:p14="http://schemas.microsoft.com/office/powerpoint/2010/main" val="2165672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19"/>
          <p:cNvSpPr txBox="1">
            <a:spLocks noGrp="1"/>
          </p:cNvSpPr>
          <p:nvPr>
            <p:ph type="body" idx="1"/>
          </p:nvPr>
        </p:nvSpPr>
        <p:spPr>
          <a:xfrm>
            <a:off x="904012" y="857692"/>
            <a:ext cx="7335975" cy="3225209"/>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US" sz="1400" b="0" i="0" dirty="0">
                <a:solidFill>
                  <a:schemeClr val="accent6">
                    <a:lumMod val="75000"/>
                  </a:schemeClr>
                </a:solidFill>
                <a:effectLst/>
                <a:latin typeface="Helvetica Neue"/>
              </a:rPr>
              <a:t>The LSTM calculations use three different functions for creating a dataset that can be modeled. Each function is described in more detail below.</a:t>
            </a:r>
          </a:p>
          <a:p>
            <a:pPr marL="0" lvl="0" indent="0" algn="l" rtl="0">
              <a:spcBef>
                <a:spcPts val="600"/>
              </a:spcBef>
              <a:spcAft>
                <a:spcPts val="0"/>
              </a:spcAft>
              <a:buNone/>
            </a:pPr>
            <a:endParaRPr lang="en-US" sz="1200" dirty="0">
              <a:solidFill>
                <a:schemeClr val="accent6">
                  <a:lumMod val="75000"/>
                </a:schemeClr>
              </a:solidFill>
              <a:latin typeface="Helvetica Neue"/>
            </a:endParaRPr>
          </a:p>
          <a:p>
            <a:pPr marL="342900" indent="-342900">
              <a:buFont typeface="+mj-lt"/>
              <a:buAutoNum type="arabicPeriod"/>
            </a:pPr>
            <a:r>
              <a:rPr lang="en-IN" sz="1200" i="0" dirty="0">
                <a:solidFill>
                  <a:schemeClr val="accent6">
                    <a:lumMod val="75000"/>
                  </a:schemeClr>
                </a:solidFill>
                <a:effectLst/>
                <a:latin typeface="Raleway" panose="020B0604020202020204" charset="0"/>
              </a:rPr>
              <a:t>Creating the dataset : </a:t>
            </a:r>
            <a:r>
              <a:rPr lang="en-US" sz="1200" b="0" i="0" dirty="0">
                <a:solidFill>
                  <a:schemeClr val="accent6">
                    <a:lumMod val="75000"/>
                  </a:schemeClr>
                </a:solidFill>
                <a:effectLst/>
                <a:latin typeface="Raleway" panose="020B0604020202020204" charset="0"/>
              </a:rPr>
              <a:t>This function is used to create the datasets required for training and testing LSTM neural nets. It accepts a time series, the number of previous periods the user would like to model, the train / test split fractions, and whether to perform differencing or log transforms on the data to make it stationary. It will also scale all data between 0 and 1 for input into the LSTM.</a:t>
            </a:r>
          </a:p>
          <a:p>
            <a:pPr marL="342900" indent="-342900">
              <a:buFont typeface="+mj-lt"/>
              <a:buAutoNum type="arabicPeriod"/>
            </a:pPr>
            <a:r>
              <a:rPr lang="en-IN" sz="1200" i="0" dirty="0">
                <a:solidFill>
                  <a:schemeClr val="accent6">
                    <a:lumMod val="75000"/>
                  </a:schemeClr>
                </a:solidFill>
                <a:effectLst/>
                <a:latin typeface="Raleway" panose="020B0604020202020204" charset="0"/>
              </a:rPr>
              <a:t>Inverse transformations : </a:t>
            </a:r>
            <a:r>
              <a:rPr lang="en-US" sz="1200" b="0" i="0" dirty="0">
                <a:solidFill>
                  <a:schemeClr val="accent6">
                    <a:lumMod val="75000"/>
                  </a:schemeClr>
                </a:solidFill>
                <a:effectLst/>
                <a:latin typeface="Raleway" panose="020B0604020202020204" charset="0"/>
              </a:rPr>
              <a:t>This inverse transform function simply reverses any transformations performed when generating the dataset. Inversing the transformations allows for the model predictions to be based on the same scale as the original dataset for more intuitive interpretation of results. Both the model creation and inverse transformation functions are automatically called within the LSTM function below.</a:t>
            </a:r>
          </a:p>
          <a:p>
            <a:pPr marL="342900" indent="-342900">
              <a:buFont typeface="+mj-lt"/>
              <a:buAutoNum type="arabicPeriod"/>
            </a:pPr>
            <a:r>
              <a:rPr lang="en-IN" sz="1200" i="0" dirty="0">
                <a:solidFill>
                  <a:schemeClr val="accent6">
                    <a:lumMod val="75000"/>
                  </a:schemeClr>
                </a:solidFill>
                <a:effectLst/>
                <a:latin typeface="Raleway" panose="020B0604020202020204" charset="0"/>
              </a:rPr>
              <a:t>LSTM modelling : </a:t>
            </a:r>
            <a:r>
              <a:rPr lang="en-US" sz="1200" b="0" i="0" dirty="0">
                <a:solidFill>
                  <a:schemeClr val="accent6">
                    <a:lumMod val="75000"/>
                  </a:schemeClr>
                </a:solidFill>
                <a:effectLst/>
                <a:latin typeface="Raleway" panose="020B0604020202020204" charset="0"/>
              </a:rPr>
              <a:t>Calling the LSTM model only requires a time series dataset, the number of desired look-back periods, the train/test split, whether to log transform or difference the data, and parameters for training such as number of nodes and epochs. Within the function, it creates the train and test datasets—both features and targets—and then trains an LSTM model, followed by forecasting the out-of-sample data. The predictions from the model, as well as the actual target values are then inverse transformed using the function above, and plots are generated along with error metrics.</a:t>
            </a:r>
            <a:endParaRPr lang="en-IN" sz="1200" b="1" i="0" dirty="0">
              <a:solidFill>
                <a:schemeClr val="accent6">
                  <a:lumMod val="75000"/>
                </a:schemeClr>
              </a:solidFill>
              <a:effectLst/>
              <a:latin typeface="Raleway" panose="020B0604020202020204" charset="0"/>
            </a:endParaRPr>
          </a:p>
          <a:p>
            <a:pPr marL="342900" indent="-342900">
              <a:buFont typeface="+mj-lt"/>
              <a:buAutoNum type="arabicPeriod"/>
            </a:pPr>
            <a:endParaRPr lang="en-IN" sz="1100" b="1" i="0" dirty="0">
              <a:solidFill>
                <a:srgbClr val="000000"/>
              </a:solidFill>
              <a:effectLst/>
              <a:latin typeface="Helvetica Neue"/>
            </a:endParaRPr>
          </a:p>
          <a:p>
            <a:pPr marL="342900" indent="-342900">
              <a:buFont typeface="+mj-lt"/>
              <a:buAutoNum type="arabicPeriod"/>
            </a:pPr>
            <a:endParaRPr lang="en-US" sz="1200" b="0" i="0" dirty="0">
              <a:solidFill>
                <a:srgbClr val="000000"/>
              </a:solidFill>
              <a:effectLst/>
              <a:latin typeface="Helvetica Neue"/>
            </a:endParaRPr>
          </a:p>
          <a:p>
            <a:pPr marL="342900" indent="-342900">
              <a:buFont typeface="+mj-lt"/>
              <a:buAutoNum type="arabicPeriod"/>
            </a:pPr>
            <a:endParaRPr lang="en-IN" sz="1100" i="0" dirty="0">
              <a:solidFill>
                <a:srgbClr val="000000"/>
              </a:solidFill>
              <a:effectLst/>
              <a:latin typeface="Helvetica Neue"/>
            </a:endParaRPr>
          </a:p>
          <a:p>
            <a:pPr marL="342900" lvl="0" indent="-342900" algn="l" rtl="0">
              <a:spcBef>
                <a:spcPts val="600"/>
              </a:spcBef>
              <a:spcAft>
                <a:spcPts val="0"/>
              </a:spcAft>
              <a:buFont typeface="+mj-lt"/>
              <a:buAutoNum type="arabicPeriod"/>
            </a:pPr>
            <a:endParaRPr sz="1400" dirty="0">
              <a:solidFill>
                <a:schemeClr val="accent6">
                  <a:lumMod val="75000"/>
                </a:schemeClr>
              </a:solidFill>
            </a:endParaRPr>
          </a:p>
        </p:txBody>
      </p:sp>
      <p:sp>
        <p:nvSpPr>
          <p:cNvPr id="145" name="Google Shape;145;p19"/>
          <p:cNvSpPr txBox="1">
            <a:spLocks noGrp="1"/>
          </p:cNvSpPr>
          <p:nvPr>
            <p:ph type="title"/>
          </p:nvPr>
        </p:nvSpPr>
        <p:spPr>
          <a:xfrm>
            <a:off x="904012" y="-80649"/>
            <a:ext cx="6995733" cy="8574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400" dirty="0">
                <a:solidFill>
                  <a:srgbClr val="5B768F"/>
                </a:solidFill>
              </a:rPr>
              <a:t>Long short term memory (LSTM)</a:t>
            </a:r>
            <a:endParaRPr sz="3400" dirty="0">
              <a:solidFill>
                <a:srgbClr val="5B768F"/>
              </a:solidFill>
            </a:endParaRPr>
          </a:p>
        </p:txBody>
      </p:sp>
      <p:sp>
        <p:nvSpPr>
          <p:cNvPr id="147" name="Google Shape;147;p19"/>
          <p:cNvSpPr txBox="1">
            <a:spLocks noGrp="1"/>
          </p:cNvSpPr>
          <p:nvPr>
            <p:ph type="sldNum" idx="12"/>
          </p:nvPr>
        </p:nvSpPr>
        <p:spPr>
          <a:xfrm>
            <a:off x="8480575" y="4696933"/>
            <a:ext cx="548700" cy="313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fld id="{00000000-1234-1234-1234-123412341234}" type="slidenum">
              <a:rPr lang="en"/>
              <a:t>6</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4E20-AC22-4739-90C0-02C946062C18}"/>
              </a:ext>
            </a:extLst>
          </p:cNvPr>
          <p:cNvSpPr>
            <a:spLocks noGrp="1"/>
          </p:cNvSpPr>
          <p:nvPr>
            <p:ph type="title"/>
          </p:nvPr>
        </p:nvSpPr>
        <p:spPr>
          <a:xfrm>
            <a:off x="510362" y="167242"/>
            <a:ext cx="7877498" cy="1137259"/>
          </a:xfrm>
        </p:spPr>
        <p:txBody>
          <a:bodyPr/>
          <a:lstStyle/>
          <a:p>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0000"/>
                </a:solidFill>
                <a:effectLst/>
                <a:latin typeface="Raleway" panose="020B0604020202020204" charset="0"/>
              </a:rPr>
              <a:t/>
            </a:r>
            <a:br>
              <a:rPr lang="en-IN" i="0" dirty="0">
                <a:solidFill>
                  <a:srgbClr val="000000"/>
                </a:solidFill>
                <a:effectLst/>
                <a:latin typeface="Raleway" panose="020B0604020202020204" charset="0"/>
              </a:rPr>
            </a:br>
            <a:r>
              <a:rPr lang="en-IN" i="0" dirty="0">
                <a:solidFill>
                  <a:srgbClr val="0070C0"/>
                </a:solidFill>
                <a:effectLst/>
                <a:latin typeface="Raleway" panose="020B0604020202020204" charset="0"/>
              </a:rPr>
              <a:t>S&amp;P 500 HISTORICAL DATA</a:t>
            </a:r>
            <a:r>
              <a:rPr lang="en-IN" b="1" i="0" dirty="0">
                <a:solidFill>
                  <a:srgbClr val="000000"/>
                </a:solidFill>
                <a:effectLst/>
                <a:latin typeface="Helvetica Neue"/>
              </a:rPr>
              <a:t/>
            </a:r>
            <a:br>
              <a:rPr lang="en-IN" b="1" i="0" dirty="0">
                <a:solidFill>
                  <a:srgbClr val="000000"/>
                </a:solidFill>
                <a:effectLst/>
                <a:latin typeface="Helvetica Neue"/>
              </a:rPr>
            </a:br>
            <a:endParaRPr lang="en-IN" dirty="0">
              <a:solidFill>
                <a:schemeClr val="accent6">
                  <a:lumMod val="75000"/>
                </a:schemeClr>
              </a:solidFill>
            </a:endParaRPr>
          </a:p>
        </p:txBody>
      </p:sp>
      <p:sp>
        <p:nvSpPr>
          <p:cNvPr id="4" name="Slide Number Placeholder 3">
            <a:extLst>
              <a:ext uri="{FF2B5EF4-FFF2-40B4-BE49-F238E27FC236}">
                <a16:creationId xmlns:a16="http://schemas.microsoft.com/office/drawing/2014/main" id="{A95F7210-8F91-4DCD-A628-0663EFBFDDD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7</a:t>
            </a:fld>
            <a:endParaRPr lang="en"/>
          </a:p>
        </p:txBody>
      </p:sp>
      <p:sp>
        <p:nvSpPr>
          <p:cNvPr id="6" name="TextBox 5">
            <a:extLst>
              <a:ext uri="{FF2B5EF4-FFF2-40B4-BE49-F238E27FC236}">
                <a16:creationId xmlns:a16="http://schemas.microsoft.com/office/drawing/2014/main" id="{D56F54A0-04E3-41EF-A956-D8230423EEBB}"/>
              </a:ext>
            </a:extLst>
          </p:cNvPr>
          <p:cNvSpPr txBox="1"/>
          <p:nvPr/>
        </p:nvSpPr>
        <p:spPr>
          <a:xfrm>
            <a:off x="510362" y="866973"/>
            <a:ext cx="7237228" cy="738664"/>
          </a:xfrm>
          <a:prstGeom prst="rect">
            <a:avLst/>
          </a:prstGeom>
          <a:noFill/>
        </p:spPr>
        <p:txBody>
          <a:bodyPr wrap="square" rtlCol="0">
            <a:spAutoFit/>
          </a:bodyPr>
          <a:lstStyle/>
          <a:p>
            <a:r>
              <a:rPr lang="en-US" sz="1400" b="0" i="0" dirty="0">
                <a:solidFill>
                  <a:schemeClr val="accent6">
                    <a:lumMod val="75000"/>
                  </a:schemeClr>
                </a:solidFill>
                <a:effectLst/>
                <a:latin typeface="Raleway" panose="020B0604020202020204" charset="0"/>
              </a:rPr>
              <a:t>The ARIMA model performed slightly better than the LSTM model, but the improvements were mostly negligible. Gaussing filtering the data improved accuracy for both models.</a:t>
            </a:r>
            <a:endParaRPr lang="en-IN" dirty="0">
              <a:latin typeface="Raleway" panose="020B0604020202020204" charset="0"/>
            </a:endParaRPr>
          </a:p>
        </p:txBody>
      </p:sp>
      <p:sp>
        <p:nvSpPr>
          <p:cNvPr id="10" name="TextBox 9">
            <a:extLst>
              <a:ext uri="{FF2B5EF4-FFF2-40B4-BE49-F238E27FC236}">
                <a16:creationId xmlns:a16="http://schemas.microsoft.com/office/drawing/2014/main" id="{85E580D2-E09A-48AC-B38F-54C6D1DA606A}"/>
              </a:ext>
            </a:extLst>
          </p:cNvPr>
          <p:cNvSpPr txBox="1"/>
          <p:nvPr/>
        </p:nvSpPr>
        <p:spPr>
          <a:xfrm>
            <a:off x="510362" y="1840334"/>
            <a:ext cx="3891516" cy="3170099"/>
          </a:xfrm>
          <a:prstGeom prst="rect">
            <a:avLst/>
          </a:prstGeom>
          <a:noFill/>
        </p:spPr>
        <p:txBody>
          <a:bodyPr wrap="square" rtlCol="0">
            <a:spAutoFit/>
          </a:bodyPr>
          <a:lstStyle/>
          <a:p>
            <a:pPr algn="just"/>
            <a:r>
              <a:rPr lang="en-US" b="0" i="0" dirty="0">
                <a:solidFill>
                  <a:schemeClr val="accent6">
                    <a:lumMod val="75000"/>
                  </a:schemeClr>
                </a:solidFill>
                <a:effectLst/>
                <a:latin typeface="Raleway" panose="020B0604020202020204" charset="0"/>
              </a:rPr>
              <a:t>S&amp;P 500 historical closing price data from 1950 through October 2017 (obtained through Yahoo Finance). The data is averaged monthly and plotted in the graph. This trend shows increasing values over time, along with some steep increases and decreases.</a:t>
            </a:r>
          </a:p>
          <a:p>
            <a:pPr algn="just"/>
            <a:endParaRPr lang="en-IN" b="0" i="0" dirty="0">
              <a:solidFill>
                <a:schemeClr val="accent6">
                  <a:lumMod val="50000"/>
                </a:schemeClr>
              </a:solidFill>
              <a:effectLst/>
              <a:latin typeface="Helvetica Neue"/>
            </a:endParaRPr>
          </a:p>
          <a:p>
            <a:pPr algn="just"/>
            <a:r>
              <a:rPr lang="en-IN" b="0" i="0" dirty="0">
                <a:solidFill>
                  <a:schemeClr val="accent6">
                    <a:lumMod val="75000"/>
                  </a:schemeClr>
                </a:solidFill>
                <a:effectLst/>
                <a:latin typeface="Helvetica Neue"/>
              </a:rPr>
              <a:t>Outcomes</a:t>
            </a:r>
            <a:r>
              <a:rPr lang="en-IN" dirty="0">
                <a:solidFill>
                  <a:schemeClr val="accent6">
                    <a:lumMod val="75000"/>
                  </a:schemeClr>
                </a:solidFill>
                <a:latin typeface="Helvetica Neue"/>
              </a:rPr>
              <a:t>:</a:t>
            </a:r>
          </a:p>
          <a:p>
            <a:pPr algn="just"/>
            <a:endParaRPr lang="en-IN" sz="1200" b="0" i="0" dirty="0">
              <a:solidFill>
                <a:schemeClr val="accent6">
                  <a:lumMod val="50000"/>
                </a:schemeClr>
              </a:solidFill>
              <a:effectLst/>
              <a:latin typeface="Helvetica Neue"/>
            </a:endParaRPr>
          </a:p>
          <a:p>
            <a:pPr algn="l">
              <a:buFont typeface="Arial" panose="020B0604020202020204" pitchFamily="34" charset="0"/>
              <a:buChar char="•"/>
            </a:pPr>
            <a:r>
              <a:rPr lang="en-IN" sz="1200" b="0" i="0" dirty="0">
                <a:solidFill>
                  <a:schemeClr val="accent6">
                    <a:lumMod val="75000"/>
                  </a:schemeClr>
                </a:solidFill>
                <a:effectLst/>
                <a:latin typeface="Helvetica Neue"/>
              </a:rPr>
              <a:t>ARIMA RMSE (no filter): 45.50</a:t>
            </a:r>
          </a:p>
          <a:p>
            <a:pPr algn="l">
              <a:buFont typeface="Arial" panose="020B0604020202020204" pitchFamily="34" charset="0"/>
              <a:buChar char="•"/>
            </a:pPr>
            <a:r>
              <a:rPr lang="en-IN" sz="1200" b="0" i="0" dirty="0">
                <a:solidFill>
                  <a:schemeClr val="accent6">
                    <a:lumMod val="75000"/>
                  </a:schemeClr>
                </a:solidFill>
                <a:effectLst/>
                <a:latin typeface="Helvetica Neue"/>
              </a:rPr>
              <a:t>LSTM RMSE (no filter): 46.67</a:t>
            </a:r>
          </a:p>
          <a:p>
            <a:pPr algn="l">
              <a:buFont typeface="Arial" panose="020B0604020202020204" pitchFamily="34" charset="0"/>
              <a:buChar char="•"/>
            </a:pPr>
            <a:r>
              <a:rPr lang="en-IN" sz="1200" b="0" i="0" dirty="0">
                <a:solidFill>
                  <a:schemeClr val="accent6">
                    <a:lumMod val="75000"/>
                  </a:schemeClr>
                </a:solidFill>
                <a:effectLst/>
                <a:latin typeface="Helvetica Neue"/>
              </a:rPr>
              <a:t>ARIMA RMSE (filtered): 24.57</a:t>
            </a:r>
          </a:p>
          <a:p>
            <a:pPr algn="l">
              <a:buFont typeface="Arial" panose="020B0604020202020204" pitchFamily="34" charset="0"/>
              <a:buChar char="•"/>
            </a:pPr>
            <a:r>
              <a:rPr lang="en-IN" sz="1200" b="0" i="0" dirty="0">
                <a:solidFill>
                  <a:schemeClr val="accent6">
                    <a:lumMod val="75000"/>
                  </a:schemeClr>
                </a:solidFill>
                <a:effectLst/>
                <a:latin typeface="Helvetica Neue"/>
              </a:rPr>
              <a:t>LSTM RMSE (filtered): 24.75</a:t>
            </a:r>
          </a:p>
          <a:p>
            <a:endParaRPr lang="en-IN" dirty="0"/>
          </a:p>
        </p:txBody>
      </p:sp>
      <p:pic>
        <p:nvPicPr>
          <p:cNvPr id="12" name="Picture 11">
            <a:extLst>
              <a:ext uri="{FF2B5EF4-FFF2-40B4-BE49-F238E27FC236}">
                <a16:creationId xmlns:a16="http://schemas.microsoft.com/office/drawing/2014/main" id="{E68C7588-9276-4556-A7C7-5E72BDED4CC3}"/>
              </a:ext>
            </a:extLst>
          </p:cNvPr>
          <p:cNvPicPr>
            <a:picLocks noChangeAspect="1"/>
          </p:cNvPicPr>
          <p:nvPr/>
        </p:nvPicPr>
        <p:blipFill>
          <a:blip r:embed="rId2"/>
          <a:stretch>
            <a:fillRect/>
          </a:stretch>
        </p:blipFill>
        <p:spPr>
          <a:xfrm>
            <a:off x="5054191" y="1906772"/>
            <a:ext cx="3439706" cy="2251444"/>
          </a:xfrm>
          <a:prstGeom prst="rect">
            <a:avLst/>
          </a:prstGeom>
        </p:spPr>
      </p:pic>
    </p:spTree>
    <p:extLst>
      <p:ext uri="{BB962C8B-B14F-4D97-AF65-F5344CB8AC3E}">
        <p14:creationId xmlns:p14="http://schemas.microsoft.com/office/powerpoint/2010/main" val="35506887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053C85EE-634D-4252-91E1-596E6C1489EC}"/>
              </a:ext>
            </a:extLst>
          </p:cNvPr>
          <p:cNvSpPr>
            <a:spLocks noGrp="1"/>
          </p:cNvSpPr>
          <p:nvPr>
            <p:ph type="body" idx="1"/>
          </p:nvPr>
        </p:nvSpPr>
        <p:spPr>
          <a:xfrm>
            <a:off x="822337" y="307015"/>
            <a:ext cx="3136800" cy="3725700"/>
          </a:xfrm>
        </p:spPr>
        <p:txBody>
          <a:bodyPr/>
          <a:lstStyle/>
          <a:p>
            <a:pPr marL="101600" indent="0" algn="l">
              <a:buNone/>
            </a:pPr>
            <a:r>
              <a:rPr lang="en-US" b="1" i="0" dirty="0">
                <a:solidFill>
                  <a:srgbClr val="0070C0"/>
                </a:solidFill>
                <a:effectLst/>
                <a:latin typeface="Raleway" panose="020B0604020202020204" charset="0"/>
              </a:rPr>
              <a:t>S&amp;P 500 ARIMA model</a:t>
            </a:r>
          </a:p>
          <a:p>
            <a:pPr marL="101600" indent="0" algn="just">
              <a:buNone/>
            </a:pPr>
            <a:r>
              <a:rPr lang="en-US" sz="1400" b="0" i="0" dirty="0">
                <a:solidFill>
                  <a:schemeClr val="accent6">
                    <a:lumMod val="75000"/>
                  </a:schemeClr>
                </a:solidFill>
                <a:effectLst/>
                <a:latin typeface="Raleway" panose="020B0604020202020204" charset="0"/>
              </a:rPr>
              <a:t>The ARIMA predictions below have an average RMSE value of 45.5 (with the range of actual values being from ~800 to 2500). One differencing period and log transformation was used.</a:t>
            </a:r>
          </a:p>
          <a:p>
            <a:pPr marL="101600" indent="0">
              <a:buNone/>
            </a:pPr>
            <a:endParaRPr lang="en-IN" dirty="0"/>
          </a:p>
        </p:txBody>
      </p:sp>
      <p:sp>
        <p:nvSpPr>
          <p:cNvPr id="4" name="Text Placeholder 3">
            <a:extLst>
              <a:ext uri="{FF2B5EF4-FFF2-40B4-BE49-F238E27FC236}">
                <a16:creationId xmlns:a16="http://schemas.microsoft.com/office/drawing/2014/main" id="{B2EA0AE4-E452-41ED-B474-C08F47161EC2}"/>
              </a:ext>
            </a:extLst>
          </p:cNvPr>
          <p:cNvSpPr>
            <a:spLocks noGrp="1"/>
          </p:cNvSpPr>
          <p:nvPr>
            <p:ph type="body" idx="2"/>
          </p:nvPr>
        </p:nvSpPr>
        <p:spPr>
          <a:xfrm>
            <a:off x="5184865" y="307015"/>
            <a:ext cx="3136800" cy="3725700"/>
          </a:xfrm>
        </p:spPr>
        <p:txBody>
          <a:bodyPr/>
          <a:lstStyle/>
          <a:p>
            <a:pPr marL="101600" indent="0" algn="l">
              <a:buNone/>
            </a:pPr>
            <a:r>
              <a:rPr lang="en-US" b="1" i="0" dirty="0">
                <a:solidFill>
                  <a:srgbClr val="0070C0"/>
                </a:solidFill>
                <a:effectLst/>
                <a:latin typeface="Raleway" panose="020B0604020202020204" charset="0"/>
              </a:rPr>
              <a:t>S&amp;P 500 LSTM model</a:t>
            </a:r>
          </a:p>
          <a:p>
            <a:pPr marL="101600" indent="0" algn="just">
              <a:buNone/>
            </a:pPr>
            <a:r>
              <a:rPr lang="en-US" sz="1400" b="0" i="0" dirty="0">
                <a:solidFill>
                  <a:schemeClr val="accent6">
                    <a:lumMod val="75000"/>
                  </a:schemeClr>
                </a:solidFill>
                <a:effectLst/>
                <a:latin typeface="Raleway" panose="020B0604020202020204" charset="0"/>
              </a:rPr>
              <a:t>The LSTM model below also uses log transformation and differencing, with 5 training epochs to update model weights. It has a very similar average RMSE error of 46.7.</a:t>
            </a:r>
          </a:p>
          <a:p>
            <a:pPr marL="101600" indent="0">
              <a:buNone/>
            </a:pPr>
            <a:endParaRPr lang="en-IN" dirty="0"/>
          </a:p>
        </p:txBody>
      </p:sp>
      <p:sp>
        <p:nvSpPr>
          <p:cNvPr id="5" name="Slide Number Placeholder 4">
            <a:extLst>
              <a:ext uri="{FF2B5EF4-FFF2-40B4-BE49-F238E27FC236}">
                <a16:creationId xmlns:a16="http://schemas.microsoft.com/office/drawing/2014/main" id="{AEEE3F74-142A-4473-8A9D-966C2DEF75F9}"/>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8</a:t>
            </a:fld>
            <a:endParaRPr lang="en"/>
          </a:p>
        </p:txBody>
      </p:sp>
      <p:pic>
        <p:nvPicPr>
          <p:cNvPr id="7" name="Picture 6">
            <a:extLst>
              <a:ext uri="{FF2B5EF4-FFF2-40B4-BE49-F238E27FC236}">
                <a16:creationId xmlns:a16="http://schemas.microsoft.com/office/drawing/2014/main" id="{85218F2A-BE5A-46B0-9DB1-6CFB75BD4440}"/>
              </a:ext>
            </a:extLst>
          </p:cNvPr>
          <p:cNvPicPr>
            <a:picLocks noChangeAspect="1"/>
          </p:cNvPicPr>
          <p:nvPr/>
        </p:nvPicPr>
        <p:blipFill>
          <a:blip r:embed="rId2"/>
          <a:stretch>
            <a:fillRect/>
          </a:stretch>
        </p:blipFill>
        <p:spPr>
          <a:xfrm>
            <a:off x="822335" y="2413255"/>
            <a:ext cx="3249739" cy="2127102"/>
          </a:xfrm>
          <a:prstGeom prst="rect">
            <a:avLst/>
          </a:prstGeom>
        </p:spPr>
      </p:pic>
      <p:pic>
        <p:nvPicPr>
          <p:cNvPr id="9" name="Picture 8">
            <a:extLst>
              <a:ext uri="{FF2B5EF4-FFF2-40B4-BE49-F238E27FC236}">
                <a16:creationId xmlns:a16="http://schemas.microsoft.com/office/drawing/2014/main" id="{11E71C48-652A-4473-AAA1-3D89C6F197A8}"/>
              </a:ext>
            </a:extLst>
          </p:cNvPr>
          <p:cNvPicPr>
            <a:picLocks noChangeAspect="1"/>
          </p:cNvPicPr>
          <p:nvPr/>
        </p:nvPicPr>
        <p:blipFill>
          <a:blip r:embed="rId3"/>
          <a:stretch>
            <a:fillRect/>
          </a:stretch>
        </p:blipFill>
        <p:spPr>
          <a:xfrm>
            <a:off x="5071927" y="2424014"/>
            <a:ext cx="3136801" cy="2053179"/>
          </a:xfrm>
          <a:prstGeom prst="rect">
            <a:avLst/>
          </a:prstGeom>
        </p:spPr>
      </p:pic>
    </p:spTree>
    <p:extLst>
      <p:ext uri="{BB962C8B-B14F-4D97-AF65-F5344CB8AC3E}">
        <p14:creationId xmlns:p14="http://schemas.microsoft.com/office/powerpoint/2010/main" val="22722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BF5325-256D-4438-96DF-2896AE7C6794}"/>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 smtClean="0"/>
              <a:t>9</a:t>
            </a:fld>
            <a:endParaRPr lang="en"/>
          </a:p>
        </p:txBody>
      </p:sp>
      <p:graphicFrame>
        <p:nvGraphicFramePr>
          <p:cNvPr id="5" name="Table 4">
            <a:extLst>
              <a:ext uri="{FF2B5EF4-FFF2-40B4-BE49-F238E27FC236}">
                <a16:creationId xmlns:a16="http://schemas.microsoft.com/office/drawing/2014/main" id="{0F267061-F7BF-4E27-9924-967B64AA4512}"/>
              </a:ext>
            </a:extLst>
          </p:cNvPr>
          <p:cNvGraphicFramePr>
            <a:graphicFrameLocks noGrp="1"/>
          </p:cNvGraphicFramePr>
          <p:nvPr>
            <p:extLst>
              <p:ext uri="{D42A27DB-BD31-4B8C-83A1-F6EECF244321}">
                <p14:modId xmlns:p14="http://schemas.microsoft.com/office/powerpoint/2010/main" val="1689848774"/>
              </p:ext>
            </p:extLst>
          </p:nvPr>
        </p:nvGraphicFramePr>
        <p:xfrm>
          <a:off x="850917" y="1389321"/>
          <a:ext cx="7442165" cy="3118878"/>
        </p:xfrm>
        <a:graphic>
          <a:graphicData uri="http://schemas.openxmlformats.org/drawingml/2006/table">
            <a:tbl>
              <a:tblPr firstRow="1" bandRow="1">
                <a:tableStyleId>{7AAA3B20-678A-4C7C-9798-64512E79D95C}</a:tableStyleId>
              </a:tblPr>
              <a:tblGrid>
                <a:gridCol w="1488433">
                  <a:extLst>
                    <a:ext uri="{9D8B030D-6E8A-4147-A177-3AD203B41FA5}">
                      <a16:colId xmlns:a16="http://schemas.microsoft.com/office/drawing/2014/main" val="3640553764"/>
                    </a:ext>
                  </a:extLst>
                </a:gridCol>
                <a:gridCol w="1488433">
                  <a:extLst>
                    <a:ext uri="{9D8B030D-6E8A-4147-A177-3AD203B41FA5}">
                      <a16:colId xmlns:a16="http://schemas.microsoft.com/office/drawing/2014/main" val="2695370208"/>
                    </a:ext>
                  </a:extLst>
                </a:gridCol>
                <a:gridCol w="1488433">
                  <a:extLst>
                    <a:ext uri="{9D8B030D-6E8A-4147-A177-3AD203B41FA5}">
                      <a16:colId xmlns:a16="http://schemas.microsoft.com/office/drawing/2014/main" val="2883141254"/>
                    </a:ext>
                  </a:extLst>
                </a:gridCol>
                <a:gridCol w="1488433">
                  <a:extLst>
                    <a:ext uri="{9D8B030D-6E8A-4147-A177-3AD203B41FA5}">
                      <a16:colId xmlns:a16="http://schemas.microsoft.com/office/drawing/2014/main" val="1347901406"/>
                    </a:ext>
                  </a:extLst>
                </a:gridCol>
                <a:gridCol w="1488433">
                  <a:extLst>
                    <a:ext uri="{9D8B030D-6E8A-4147-A177-3AD203B41FA5}">
                      <a16:colId xmlns:a16="http://schemas.microsoft.com/office/drawing/2014/main" val="305867804"/>
                    </a:ext>
                  </a:extLst>
                </a:gridCol>
              </a:tblGrid>
              <a:tr h="559496">
                <a:tc>
                  <a:txBody>
                    <a:bodyPr/>
                    <a:lstStyle/>
                    <a:p>
                      <a:pPr algn="ctr"/>
                      <a:r>
                        <a:rPr lang="en-US" dirty="0">
                          <a:ln>
                            <a:solidFill>
                              <a:schemeClr val="bg1"/>
                            </a:solidFill>
                          </a:ln>
                          <a:solidFill>
                            <a:schemeClr val="bg1"/>
                          </a:solidFill>
                        </a:rPr>
                        <a:t>Data Set</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ARIMA (test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LSTM (test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Gaussian ARIMA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Gaussian LSTM (RMSE)</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160474940"/>
                  </a:ext>
                </a:extLst>
              </a:tr>
              <a:tr h="365626">
                <a:tc>
                  <a:txBody>
                    <a:bodyPr/>
                    <a:lstStyle/>
                    <a:p>
                      <a:pPr algn="ctr"/>
                      <a:r>
                        <a:rPr lang="en-US" dirty="0">
                          <a:ln>
                            <a:solidFill>
                              <a:schemeClr val="bg1"/>
                            </a:solidFill>
                          </a:ln>
                          <a:solidFill>
                            <a:schemeClr val="bg1"/>
                          </a:solidFill>
                        </a:rPr>
                        <a:t>S&amp;P 500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45.495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46.671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24.570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24.751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47660511"/>
                  </a:ext>
                </a:extLst>
              </a:tr>
              <a:tr h="365626">
                <a:tc>
                  <a:txBody>
                    <a:bodyPr/>
                    <a:lstStyle/>
                    <a:p>
                      <a:pPr algn="ctr"/>
                      <a:r>
                        <a:rPr lang="en-US" dirty="0">
                          <a:ln>
                            <a:solidFill>
                              <a:schemeClr val="bg1"/>
                            </a:solidFill>
                          </a:ln>
                          <a:solidFill>
                            <a:schemeClr val="bg1"/>
                          </a:solidFill>
                        </a:rPr>
                        <a:t>LeBron James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20.009</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27.175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9.816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13.743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92705806"/>
                  </a:ext>
                </a:extLst>
              </a:tr>
              <a:tr h="365626">
                <a:tc>
                  <a:txBody>
                    <a:bodyPr/>
                    <a:lstStyle/>
                    <a:p>
                      <a:pPr algn="ctr"/>
                      <a:r>
                        <a:rPr lang="en-US" dirty="0">
                          <a:ln>
                            <a:solidFill>
                              <a:schemeClr val="bg1"/>
                            </a:solidFill>
                          </a:ln>
                          <a:solidFill>
                            <a:schemeClr val="bg1"/>
                          </a:solidFill>
                        </a:rPr>
                        <a:t>Cold Brew</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9.157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8.597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3.025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4.543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18560615"/>
                  </a:ext>
                </a:extLst>
              </a:tr>
              <a:tr h="365626">
                <a:tc>
                  <a:txBody>
                    <a:bodyPr/>
                    <a:lstStyle/>
                    <a:p>
                      <a:pPr algn="ctr"/>
                      <a:r>
                        <a:rPr lang="en-US" dirty="0">
                          <a:ln>
                            <a:solidFill>
                              <a:schemeClr val="bg1"/>
                            </a:solidFill>
                          </a:ln>
                          <a:solidFill>
                            <a:schemeClr val="bg1"/>
                          </a:solidFill>
                        </a:rPr>
                        <a:t>Kentucky Perby</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30.935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30.224</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15.232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15.232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713464"/>
                  </a:ext>
                </a:extLst>
              </a:tr>
              <a:tr h="365626">
                <a:tc>
                  <a:txBody>
                    <a:bodyPr/>
                    <a:lstStyle/>
                    <a:p>
                      <a:pPr algn="ctr"/>
                      <a:r>
                        <a:rPr lang="en-US" dirty="0">
                          <a:ln>
                            <a:solidFill>
                              <a:schemeClr val="bg1"/>
                            </a:solidFill>
                          </a:ln>
                          <a:solidFill>
                            <a:schemeClr val="bg1"/>
                          </a:solidFill>
                        </a:rPr>
                        <a:t>Gilmore Girls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12.026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13.885</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6.517</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7.592</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30135500"/>
                  </a:ext>
                </a:extLst>
              </a:tr>
              <a:tr h="365626">
                <a:tc>
                  <a:txBody>
                    <a:bodyPr/>
                    <a:lstStyle/>
                    <a:p>
                      <a:pPr algn="ctr"/>
                      <a:r>
                        <a:rPr lang="en-US" dirty="0">
                          <a:ln>
                            <a:solidFill>
                              <a:schemeClr val="bg1"/>
                            </a:solidFill>
                          </a:ln>
                          <a:solidFill>
                            <a:schemeClr val="bg1"/>
                          </a:solidFill>
                        </a:rPr>
                        <a:t>Olympics </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17.420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18.506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9.146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11.078</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9426780"/>
                  </a:ext>
                </a:extLst>
              </a:tr>
              <a:tr h="365626">
                <a:tc>
                  <a:txBody>
                    <a:bodyPr/>
                    <a:lstStyle/>
                    <a:p>
                      <a:pPr algn="ctr"/>
                      <a:r>
                        <a:rPr lang="en-US" dirty="0">
                          <a:ln>
                            <a:solidFill>
                              <a:schemeClr val="bg1"/>
                            </a:solidFill>
                          </a:ln>
                          <a:solidFill>
                            <a:schemeClr val="bg1"/>
                          </a:solidFill>
                        </a:rPr>
                        <a:t>Zika Virus</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16.771</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16.040</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8.543</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a:lstStyle/>
                    <a:p>
                      <a:pPr algn="ctr"/>
                      <a:r>
                        <a:rPr lang="en-US" dirty="0">
                          <a:ln>
                            <a:solidFill>
                              <a:schemeClr val="bg1"/>
                            </a:solidFill>
                          </a:ln>
                          <a:solidFill>
                            <a:schemeClr val="bg1"/>
                          </a:solidFill>
                        </a:rPr>
                        <a:t>8.586</a:t>
                      </a:r>
                    </a:p>
                  </a:txBody>
                  <a:tcP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004010165"/>
                  </a:ext>
                </a:extLst>
              </a:tr>
            </a:tbl>
          </a:graphicData>
        </a:graphic>
      </p:graphicFrame>
      <p:sp>
        <p:nvSpPr>
          <p:cNvPr id="8" name="TextBox 7">
            <a:extLst>
              <a:ext uri="{FF2B5EF4-FFF2-40B4-BE49-F238E27FC236}">
                <a16:creationId xmlns:a16="http://schemas.microsoft.com/office/drawing/2014/main" id="{4EF08872-9EDE-4672-AAE4-07BA6E2A2B75}"/>
              </a:ext>
            </a:extLst>
          </p:cNvPr>
          <p:cNvSpPr txBox="1"/>
          <p:nvPr/>
        </p:nvSpPr>
        <p:spPr>
          <a:xfrm>
            <a:off x="708837" y="312135"/>
            <a:ext cx="5167423" cy="646331"/>
          </a:xfrm>
          <a:prstGeom prst="rect">
            <a:avLst/>
          </a:prstGeom>
          <a:noFill/>
        </p:spPr>
        <p:txBody>
          <a:bodyPr wrap="square" rtlCol="0">
            <a:spAutoFit/>
          </a:bodyPr>
          <a:lstStyle/>
          <a:p>
            <a:r>
              <a:rPr lang="en-IN" sz="3600" dirty="0">
                <a:solidFill>
                  <a:schemeClr val="bg1"/>
                </a:solidFill>
                <a:latin typeface="Raleway" panose="020B0604020202020204" charset="0"/>
                <a:cs typeface="Arial" panose="020B0604020202020204" pitchFamily="34" charset="0"/>
              </a:rPr>
              <a:t>RESULT</a:t>
            </a:r>
          </a:p>
        </p:txBody>
      </p:sp>
    </p:spTree>
    <p:extLst>
      <p:ext uri="{BB962C8B-B14F-4D97-AF65-F5344CB8AC3E}">
        <p14:creationId xmlns:p14="http://schemas.microsoft.com/office/powerpoint/2010/main" val="14434437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34398-4A8A-4731-B306-6C79E57FFACC}"/>
              </a:ext>
            </a:extLst>
          </p:cNvPr>
          <p:cNvSpPr>
            <a:spLocks noGrp="1"/>
          </p:cNvSpPr>
          <p:nvPr>
            <p:ph type="ctrTitle"/>
          </p:nvPr>
        </p:nvSpPr>
        <p:spPr>
          <a:xfrm>
            <a:off x="737374" y="1411950"/>
            <a:ext cx="6736500" cy="1159800"/>
          </a:xfrm>
        </p:spPr>
        <p:txBody>
          <a:bodyPr/>
          <a:lstStyle/>
          <a:p>
            <a:r>
              <a:rPr lang="en-US" sz="4800" dirty="0"/>
              <a:t>CONCLUSION</a:t>
            </a:r>
            <a:endParaRPr lang="en-IN" sz="4800" dirty="0"/>
          </a:p>
        </p:txBody>
      </p:sp>
      <p:sp>
        <p:nvSpPr>
          <p:cNvPr id="3" name="TextBox 2">
            <a:extLst>
              <a:ext uri="{FF2B5EF4-FFF2-40B4-BE49-F238E27FC236}">
                <a16:creationId xmlns:a16="http://schemas.microsoft.com/office/drawing/2014/main" id="{6B4C45AF-6A30-4472-8015-700745DCDEAB}"/>
              </a:ext>
            </a:extLst>
          </p:cNvPr>
          <p:cNvSpPr txBox="1"/>
          <p:nvPr/>
        </p:nvSpPr>
        <p:spPr>
          <a:xfrm>
            <a:off x="886047" y="2970028"/>
            <a:ext cx="6587827" cy="1616149"/>
          </a:xfrm>
          <a:prstGeom prst="rect">
            <a:avLst/>
          </a:prstGeom>
          <a:noFill/>
        </p:spPr>
        <p:txBody>
          <a:bodyPr wrap="square" rtlCol="0">
            <a:spAutoFit/>
          </a:bodyPr>
          <a:lstStyle/>
          <a:p>
            <a:endParaRPr lang="en-IN" dirty="0"/>
          </a:p>
        </p:txBody>
      </p:sp>
      <p:sp>
        <p:nvSpPr>
          <p:cNvPr id="4" name="TextBox 3">
            <a:extLst>
              <a:ext uri="{FF2B5EF4-FFF2-40B4-BE49-F238E27FC236}">
                <a16:creationId xmlns:a16="http://schemas.microsoft.com/office/drawing/2014/main" id="{1A5EF040-70B2-4D4A-BB63-DFCDC00531E9}"/>
              </a:ext>
            </a:extLst>
          </p:cNvPr>
          <p:cNvSpPr txBox="1"/>
          <p:nvPr/>
        </p:nvSpPr>
        <p:spPr>
          <a:xfrm>
            <a:off x="737374" y="2992827"/>
            <a:ext cx="7371906" cy="1600438"/>
          </a:xfrm>
          <a:prstGeom prst="rect">
            <a:avLst/>
          </a:prstGeom>
          <a:noFill/>
        </p:spPr>
        <p:txBody>
          <a:bodyPr wrap="square" rtlCol="0">
            <a:spAutoFit/>
          </a:bodyPr>
          <a:lstStyle/>
          <a:p>
            <a:pPr algn="just"/>
            <a:r>
              <a:rPr lang="en-US" b="0" i="0" dirty="0">
                <a:solidFill>
                  <a:srgbClr val="0070C0"/>
                </a:solidFill>
                <a:effectLst/>
                <a:latin typeface="Raleway" panose="020B0604020202020204" charset="0"/>
              </a:rPr>
              <a:t>Overall, the results demonstrate that both ARIMA and LSTM are quality algorithms for forecasting time series data. In general, the ARIMA model provided slightly lower errors, but also can suffer from convergence errors for series with sharp gradients. The LSTM series can train and make predictions on any series—though the accuracy must be evaluated.</a:t>
            </a:r>
          </a:p>
          <a:p>
            <a:pPr algn="just"/>
            <a:r>
              <a:rPr lang="en-US" b="0" i="0" dirty="0">
                <a:solidFill>
                  <a:srgbClr val="0070C0"/>
                </a:solidFill>
                <a:effectLst/>
                <a:latin typeface="Raleway" panose="020B0604020202020204" charset="0"/>
              </a:rPr>
              <a:t>Further, Gaussian filtering of the dataset improved predictions in every case, even when comparing the filtered predictions to the original, un-filtered dataset. </a:t>
            </a:r>
            <a:endParaRPr lang="en-IN" dirty="0">
              <a:solidFill>
                <a:srgbClr val="0070C0"/>
              </a:solidFill>
              <a:latin typeface="Raleway" panose="020B0604020202020204" charset="0"/>
            </a:endParaRPr>
          </a:p>
        </p:txBody>
      </p:sp>
    </p:spTree>
    <p:extLst>
      <p:ext uri="{BB962C8B-B14F-4D97-AF65-F5344CB8AC3E}">
        <p14:creationId xmlns:p14="http://schemas.microsoft.com/office/powerpoint/2010/main" val="4138428294"/>
      </p:ext>
    </p:extLst>
  </p:cSld>
  <p:clrMapOvr>
    <a:masterClrMapping/>
  </p:clrMapOvr>
</p:sld>
</file>

<file path=ppt/theme/theme1.xml><?xml version="1.0" encoding="utf-8"?>
<a:theme xmlns:a="http://schemas.openxmlformats.org/drawingml/2006/main" name="Antonio template">
  <a:themeElements>
    <a:clrScheme name="Custom 347">
      <a:dk1>
        <a:srgbClr val="677480"/>
      </a:dk1>
      <a:lt1>
        <a:srgbClr val="FFFFFF"/>
      </a:lt1>
      <a:dk2>
        <a:srgbClr val="2185C5"/>
      </a:dk2>
      <a:lt2>
        <a:srgbClr val="DEE2E6"/>
      </a:lt2>
      <a:accent1>
        <a:srgbClr val="2185C5"/>
      </a:accent1>
      <a:accent2>
        <a:srgbClr val="7ECEFD"/>
      </a:accent2>
      <a:accent3>
        <a:srgbClr val="F20253"/>
      </a:accent3>
      <a:accent4>
        <a:srgbClr val="FF9715"/>
      </a:accent4>
      <a:accent5>
        <a:srgbClr val="1C3AA9"/>
      </a:accent5>
      <a:accent6>
        <a:srgbClr val="97ABBC"/>
      </a:accent6>
      <a:hlink>
        <a:srgbClr val="2185C5"/>
      </a:hlink>
      <a:folHlink>
        <a:srgbClr val="6611CC"/>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568</TotalTime>
  <Words>1025</Words>
  <Application>Microsoft Office PowerPoint</Application>
  <PresentationFormat>On-screen Show (16:9)</PresentationFormat>
  <Paragraphs>124</Paragraphs>
  <Slides>10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10</vt:i4>
      </vt:variant>
    </vt:vector>
  </HeadingPairs>
  <TitlesOfParts>
    <vt:vector size="18" baseType="lpstr">
      <vt:lpstr>Lato</vt:lpstr>
      <vt:lpstr>Helvetica Neue</vt:lpstr>
      <vt:lpstr>Raleway</vt:lpstr>
      <vt:lpstr>SourceSansPro</vt:lpstr>
      <vt:lpstr>Arial</vt:lpstr>
      <vt:lpstr>CMS</vt:lpstr>
      <vt:lpstr>Wingdings</vt:lpstr>
      <vt:lpstr>Antonio template</vt:lpstr>
      <vt:lpstr>PowerPoint Presentation</vt:lpstr>
      <vt:lpstr>PowerPoint Presentation</vt:lpstr>
      <vt:lpstr>PowerPoint Presentation</vt:lpstr>
      <vt:lpstr>MODELS  USED </vt:lpstr>
      <vt:lpstr>Autoregressive Integrated Moving Average (ARIMA)</vt:lpstr>
      <vt:lpstr>Long short term memory (LSTM)</vt:lpstr>
      <vt:lpstr>           S&amp;P 500 HISTORICAL DATA </vt:lpstr>
      <vt:lpstr>PowerPoint Presentation</vt:lpstr>
      <vt:lpstr>PowerPoint Presentation</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THIS IS YOUR PRESENTATION TITLE</dc:title>
  <dc:creator>KESHAV KUMAR SINGH</dc:creator>
  <cp:lastModifiedBy>Shashank Sinha</cp:lastModifiedBy>
  <cp:revision>32</cp:revision>
  <dcterms:modified xsi:type="dcterms:W3CDTF">2022-04-26T07:18:55Z</dcterms:modified>
</cp:coreProperties>
</file>